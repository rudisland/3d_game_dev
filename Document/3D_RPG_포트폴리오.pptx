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7979F1-1387-410D-89D0-41F331D41E8D}">
  <a:tblStyle styleId="{3F7979F1-1387-410D-89D0-41F331D41E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5f7dc238d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5f7dc238d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8612bdc6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8612bdc6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5f7dc238d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5f7dc238d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5f7dc238d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5f7dc238d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82a04a66f_1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682a04a66f_1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682a04a66f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682a04a66f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682a04a66f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682a04a66f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82a04a66f_1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682a04a66f_1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65f7dc238d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65f7dc238d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65f7dc238d_1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65f7dc238d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65f7dc238d_1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65f7dc238d_1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65f7dc238d_1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65f7dc238d_1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7b75d76e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7b75d76e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65f7dc238d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65f7dc238d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956663" y="1699300"/>
            <a:ext cx="5230670" cy="102304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dk1"/>
                </a:solidFill>
                <a:latin typeface="Georgia"/>
              </a:rPr>
              <a:t>3D RPG 개발</a:t>
            </a:r>
          </a:p>
        </p:txBody>
      </p:sp>
      <p:sp>
        <p:nvSpPr>
          <p:cNvPr id="55" name="Google Shape;55;p13"/>
          <p:cNvSpPr/>
          <p:nvPr/>
        </p:nvSpPr>
        <p:spPr>
          <a:xfrm>
            <a:off x="3897850" y="2770050"/>
            <a:ext cx="1394455" cy="38966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dk1"/>
                </a:solidFill>
                <a:latin typeface="Dotum"/>
              </a:rPr>
              <a:t>김경훈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0" y="0"/>
            <a:ext cx="22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ko" sz="1800">
                <a:solidFill>
                  <a:srgbClr val="595959"/>
                </a:solidFill>
              </a:rPr>
              <a:t>순차</a:t>
            </a:r>
            <a:endParaRPr b="1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0" y="400200"/>
            <a:ext cx="2295600" cy="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0" y="5063400"/>
            <a:ext cx="9144000" cy="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952500" y="570125"/>
            <a:ext cx="7531500" cy="41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b="1" lang="ko" sz="1700">
                <a:solidFill>
                  <a:schemeClr val="dk2"/>
                </a:solidFill>
              </a:rPr>
              <a:t>게임 설명</a:t>
            </a:r>
            <a:endParaRPr b="1"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b="1" lang="ko" sz="1700">
                <a:solidFill>
                  <a:schemeClr val="dk2"/>
                </a:solidFill>
              </a:rPr>
              <a:t>개발환경</a:t>
            </a:r>
            <a:endParaRPr b="1"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b="1" lang="ko" sz="1700">
                <a:solidFill>
                  <a:schemeClr val="dk2"/>
                </a:solidFill>
              </a:rPr>
              <a:t>캐릭터구조</a:t>
            </a:r>
            <a:endParaRPr b="1" sz="17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lphaLcPeriod"/>
            </a:pPr>
            <a:r>
              <a:rPr b="1" lang="ko" sz="1200">
                <a:solidFill>
                  <a:schemeClr val="dk2"/>
                </a:solidFill>
              </a:rPr>
              <a:t>추상화를 활용한 다형성 구조</a:t>
            </a:r>
            <a:endParaRPr b="1"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lphaLcPeriod"/>
            </a:pPr>
            <a:r>
              <a:rPr b="1" lang="ko" sz="1200">
                <a:solidFill>
                  <a:schemeClr val="dk2"/>
                </a:solidFill>
              </a:rPr>
              <a:t>플레이어(FSM-유한상태머신) 구현내용</a:t>
            </a:r>
            <a:endParaRPr b="1"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lphaLcPeriod"/>
            </a:pPr>
            <a:r>
              <a:rPr b="1" lang="ko" sz="1200">
                <a:solidFill>
                  <a:schemeClr val="dk2"/>
                </a:solidFill>
              </a:rPr>
              <a:t>적(행동 트리) 구현 내용</a:t>
            </a:r>
            <a:endParaRPr b="1" sz="12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b="1" lang="ko" sz="1700">
                <a:solidFill>
                  <a:schemeClr val="dk2"/>
                </a:solidFill>
              </a:rPr>
              <a:t>저장 및 불러오기 </a:t>
            </a:r>
            <a:endParaRPr b="1"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b="1" lang="ko" sz="1700">
                <a:solidFill>
                  <a:schemeClr val="dk2"/>
                </a:solidFill>
              </a:rPr>
              <a:t>쉐이더</a:t>
            </a:r>
            <a:endParaRPr b="1" sz="17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lphaLcPeriod"/>
            </a:pPr>
            <a:r>
              <a:rPr b="1" lang="ko" sz="1200">
                <a:solidFill>
                  <a:schemeClr val="dk2"/>
                </a:solidFill>
              </a:rPr>
              <a:t>RimLight</a:t>
            </a:r>
            <a:endParaRPr b="1"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lphaLcPeriod"/>
            </a:pPr>
            <a:r>
              <a:rPr b="1" lang="ko" sz="1200">
                <a:solidFill>
                  <a:schemeClr val="dk2"/>
                </a:solidFill>
              </a:rPr>
              <a:t>Dissolve</a:t>
            </a:r>
            <a:endParaRPr b="1" sz="12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b="1" lang="ko" sz="1700">
                <a:solidFill>
                  <a:schemeClr val="dk2"/>
                </a:solidFill>
              </a:rPr>
              <a:t>렌더링 최적화 작업</a:t>
            </a:r>
            <a:endParaRPr b="1"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b="1" lang="ko" sz="1700">
                <a:solidFill>
                  <a:schemeClr val="dk2"/>
                </a:solidFill>
              </a:rPr>
              <a:t>주차별 학습 및 구현요소, </a:t>
            </a:r>
            <a:r>
              <a:rPr b="1" lang="ko" sz="1700">
                <a:solidFill>
                  <a:schemeClr val="dk2"/>
                </a:solidFill>
              </a:rPr>
              <a:t>기술정리</a:t>
            </a:r>
            <a:endParaRPr b="1"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0" y="0"/>
            <a:ext cx="22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AutoNum type="arabicPeriod"/>
            </a:pPr>
            <a:r>
              <a:rPr b="1" lang="ko" sz="1800">
                <a:solidFill>
                  <a:srgbClr val="595959"/>
                </a:solidFill>
              </a:rPr>
              <a:t>게임 설명</a:t>
            </a:r>
            <a:endParaRPr b="1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0" y="400200"/>
            <a:ext cx="2295600" cy="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0" y="5063400"/>
            <a:ext cx="9144000" cy="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1125" y="1611875"/>
            <a:ext cx="2970225" cy="191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5000" y="155325"/>
            <a:ext cx="3057400" cy="20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4625" y="3131538"/>
            <a:ext cx="3999375" cy="181367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0" y="613350"/>
            <a:ext cx="35724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dk2"/>
                </a:solidFill>
              </a:rPr>
              <a:t>3D 기반의 3인칭 시점 RPG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104375" y="1255200"/>
            <a:ext cx="3431700" cy="4002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</a:rPr>
              <a:t>장르</a:t>
            </a:r>
            <a:r>
              <a:rPr lang="ko" sz="1500">
                <a:solidFill>
                  <a:schemeClr val="dk1"/>
                </a:solidFill>
              </a:rPr>
              <a:t>: 3인칭 RPG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104375" y="1832313"/>
            <a:ext cx="3431700" cy="4002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</a:rPr>
              <a:t>플랫폼</a:t>
            </a:r>
            <a:r>
              <a:rPr lang="ko" sz="1500">
                <a:solidFill>
                  <a:schemeClr val="dk1"/>
                </a:solidFill>
              </a:rPr>
              <a:t>: PC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104375" y="2510400"/>
            <a:ext cx="4397100" cy="24348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</a:rPr>
              <a:t>플레이 방법</a:t>
            </a:r>
            <a:endParaRPr b="1" sz="1500">
              <a:solidFill>
                <a:schemeClr val="dk1"/>
              </a:solidFill>
            </a:endParaRPr>
          </a:p>
          <a:p>
            <a:pPr indent="-167250" lvl="0" marL="3023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ko" sz="1500">
                <a:solidFill>
                  <a:schemeClr val="dk1"/>
                </a:solidFill>
              </a:rPr>
              <a:t>총 3개의 스테이지로 구성</a:t>
            </a:r>
            <a:endParaRPr sz="1500">
              <a:solidFill>
                <a:schemeClr val="dk1"/>
              </a:solidFill>
            </a:endParaRPr>
          </a:p>
          <a:p>
            <a:pPr indent="-167250" lvl="0" marL="3023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ko" sz="1500">
                <a:solidFill>
                  <a:schemeClr val="dk1"/>
                </a:solidFill>
              </a:rPr>
              <a:t>무한히 스폰되는 적을 처치하여 레벨업을 통해 스탯(공격력, 방어력, 체력)을 상승시킬 수 있다.</a:t>
            </a:r>
            <a:endParaRPr sz="1500">
              <a:solidFill>
                <a:schemeClr val="dk1"/>
              </a:solidFill>
            </a:endParaRPr>
          </a:p>
          <a:p>
            <a:pPr indent="-167250" lvl="0" marL="3023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ko" sz="1500">
                <a:solidFill>
                  <a:schemeClr val="dk1"/>
                </a:solidFill>
              </a:rPr>
              <a:t>각 스테이지마다 달성 해야할 레벨조건을 만족해야 다음 스테이지로 넘어갈 수 있다.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19775" y="83802"/>
            <a:ext cx="2512299" cy="11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/>
        </p:nvSpPr>
        <p:spPr>
          <a:xfrm>
            <a:off x="0" y="0"/>
            <a:ext cx="22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ko" sz="1800">
                <a:solidFill>
                  <a:srgbClr val="595959"/>
                </a:solidFill>
              </a:rPr>
              <a:t>2. 개발 환경</a:t>
            </a:r>
            <a:endParaRPr b="1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0" y="400200"/>
            <a:ext cx="2295600" cy="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0" y="5063400"/>
            <a:ext cx="9144000" cy="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6" name="Google Shape;86;p16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{3F7979F1-1387-410D-89D0-41F331D41E8D}</a:tableStyleId>
              </a:tblPr>
              <a:tblGrid>
                <a:gridCol w="2105950"/>
                <a:gridCol w="5133050"/>
              </a:tblGrid>
              <a:tr h="45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유니티 버전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Unity Editor 22.3.44f1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2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스크립트 에디터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Visual Studio 2022 Community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95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모델 및 애니메이션 출처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Mixamo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95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에셋출처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Asset Store(Cemetery Kit, RPG_FPS_game_Asset, Skybox Series Free, Viking Village)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/>
        </p:nvSpPr>
        <p:spPr>
          <a:xfrm>
            <a:off x="0" y="0"/>
            <a:ext cx="22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ko" sz="1800">
                <a:solidFill>
                  <a:srgbClr val="595959"/>
                </a:solidFill>
              </a:rPr>
              <a:t>3. </a:t>
            </a:r>
            <a:r>
              <a:rPr b="1" lang="ko" sz="1800">
                <a:solidFill>
                  <a:srgbClr val="595959"/>
                </a:solidFill>
              </a:rPr>
              <a:t>캐릭터 구조</a:t>
            </a:r>
            <a:endParaRPr b="1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0" y="400200"/>
            <a:ext cx="2295600" cy="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0" y="5063400"/>
            <a:ext cx="9144000" cy="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1828250" y="1072250"/>
            <a:ext cx="962100" cy="4002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상태1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6236125" y="983538"/>
            <a:ext cx="695400" cy="333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루트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707600" y="1863200"/>
            <a:ext cx="962100" cy="4002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상태2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2948888" y="1863213"/>
            <a:ext cx="962100" cy="4002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상태3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1828250" y="2670950"/>
            <a:ext cx="962100" cy="4002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상태4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6236125" y="1736013"/>
            <a:ext cx="695400" cy="333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노드2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7331500" y="1736013"/>
            <a:ext cx="695400" cy="333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노드3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5140750" y="1736013"/>
            <a:ext cx="695400" cy="333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노드1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5140750" y="2498163"/>
            <a:ext cx="695400" cy="333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액션1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6236125" y="2488488"/>
            <a:ext cx="695400" cy="333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액션1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6931525" y="3240963"/>
            <a:ext cx="695400" cy="333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액션1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7741000" y="3240963"/>
            <a:ext cx="695400" cy="333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액션2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7331500" y="2498163"/>
            <a:ext cx="695400" cy="333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노드1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cxnSp>
        <p:nvCxnSpPr>
          <p:cNvPr id="107" name="Google Shape;107;p17"/>
          <p:cNvCxnSpPr>
            <a:stCxn id="95" idx="2"/>
            <a:endCxn id="101" idx="0"/>
          </p:cNvCxnSpPr>
          <p:nvPr/>
        </p:nvCxnSpPr>
        <p:spPr>
          <a:xfrm rot="5400000">
            <a:off x="5826625" y="978738"/>
            <a:ext cx="419100" cy="1095300"/>
          </a:xfrm>
          <a:prstGeom prst="bentConnector3">
            <a:avLst>
              <a:gd fmla="val 5000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8" name="Google Shape;108;p17"/>
          <p:cNvCxnSpPr>
            <a:stCxn id="95" idx="2"/>
            <a:endCxn id="99" idx="0"/>
          </p:cNvCxnSpPr>
          <p:nvPr/>
        </p:nvCxnSpPr>
        <p:spPr>
          <a:xfrm flipH="1" rot="-5400000">
            <a:off x="6374575" y="1526088"/>
            <a:ext cx="419100" cy="600"/>
          </a:xfrm>
          <a:prstGeom prst="bentConnector3">
            <a:avLst>
              <a:gd fmla="val 5000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9" name="Google Shape;109;p17"/>
          <p:cNvCxnSpPr>
            <a:stCxn id="95" idx="2"/>
            <a:endCxn id="100" idx="0"/>
          </p:cNvCxnSpPr>
          <p:nvPr/>
        </p:nvCxnSpPr>
        <p:spPr>
          <a:xfrm flipH="1" rot="-5400000">
            <a:off x="6921925" y="978738"/>
            <a:ext cx="419100" cy="1095300"/>
          </a:xfrm>
          <a:prstGeom prst="bentConnector3">
            <a:avLst>
              <a:gd fmla="val 5000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0" name="Google Shape;110;p17"/>
          <p:cNvCxnSpPr>
            <a:stCxn id="101" idx="2"/>
            <a:endCxn id="102" idx="0"/>
          </p:cNvCxnSpPr>
          <p:nvPr/>
        </p:nvCxnSpPr>
        <p:spPr>
          <a:xfrm flipH="1" rot="-5400000">
            <a:off x="5274250" y="2283513"/>
            <a:ext cx="429000" cy="600"/>
          </a:xfrm>
          <a:prstGeom prst="bentConnector3">
            <a:avLst>
              <a:gd fmla="val 4998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1" name="Google Shape;111;p17"/>
          <p:cNvCxnSpPr>
            <a:stCxn id="99" idx="2"/>
            <a:endCxn id="103" idx="0"/>
          </p:cNvCxnSpPr>
          <p:nvPr/>
        </p:nvCxnSpPr>
        <p:spPr>
          <a:xfrm flipH="1" rot="-5400000">
            <a:off x="6374575" y="2278563"/>
            <a:ext cx="419100" cy="600"/>
          </a:xfrm>
          <a:prstGeom prst="bentConnector3">
            <a:avLst>
              <a:gd fmla="val 5000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" name="Google Shape;112;p17"/>
          <p:cNvCxnSpPr>
            <a:stCxn id="100" idx="2"/>
            <a:endCxn id="106" idx="0"/>
          </p:cNvCxnSpPr>
          <p:nvPr/>
        </p:nvCxnSpPr>
        <p:spPr>
          <a:xfrm flipH="1" rot="-5400000">
            <a:off x="7465000" y="2283513"/>
            <a:ext cx="429000" cy="600"/>
          </a:xfrm>
          <a:prstGeom prst="bentConnector3">
            <a:avLst>
              <a:gd fmla="val 4998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3" name="Google Shape;113;p17"/>
          <p:cNvCxnSpPr>
            <a:stCxn id="106" idx="2"/>
            <a:endCxn id="104" idx="0"/>
          </p:cNvCxnSpPr>
          <p:nvPr/>
        </p:nvCxnSpPr>
        <p:spPr>
          <a:xfrm rot="5400000">
            <a:off x="7274500" y="2836263"/>
            <a:ext cx="409500" cy="399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4" name="Google Shape;114;p17"/>
          <p:cNvCxnSpPr>
            <a:stCxn id="106" idx="2"/>
            <a:endCxn id="105" idx="0"/>
          </p:cNvCxnSpPr>
          <p:nvPr/>
        </p:nvCxnSpPr>
        <p:spPr>
          <a:xfrm flipH="1" rot="-5400000">
            <a:off x="7679200" y="2831463"/>
            <a:ext cx="409500" cy="409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5" name="Google Shape;115;p17"/>
          <p:cNvCxnSpPr>
            <a:stCxn id="94" idx="2"/>
            <a:endCxn id="98" idx="0"/>
          </p:cNvCxnSpPr>
          <p:nvPr/>
        </p:nvCxnSpPr>
        <p:spPr>
          <a:xfrm>
            <a:off x="2309300" y="1472450"/>
            <a:ext cx="0" cy="1198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116" name="Google Shape;116;p17"/>
          <p:cNvCxnSpPr>
            <a:stCxn id="96" idx="3"/>
            <a:endCxn id="97" idx="1"/>
          </p:cNvCxnSpPr>
          <p:nvPr/>
        </p:nvCxnSpPr>
        <p:spPr>
          <a:xfrm>
            <a:off x="1669700" y="2063300"/>
            <a:ext cx="1279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117" name="Google Shape;117;p17"/>
          <p:cNvSpPr/>
          <p:nvPr/>
        </p:nvSpPr>
        <p:spPr>
          <a:xfrm>
            <a:off x="851413" y="628483"/>
            <a:ext cx="3001980" cy="2956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dk1"/>
                </a:solidFill>
                <a:latin typeface="Arial"/>
              </a:rPr>
              <a:t>FSM-유한상태머신</a:t>
            </a:r>
          </a:p>
        </p:txBody>
      </p:sp>
      <p:sp>
        <p:nvSpPr>
          <p:cNvPr id="118" name="Google Shape;118;p17"/>
          <p:cNvSpPr/>
          <p:nvPr/>
        </p:nvSpPr>
        <p:spPr>
          <a:xfrm>
            <a:off x="4704713" y="599783"/>
            <a:ext cx="3944352" cy="35298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dk1"/>
                </a:solidFill>
                <a:latin typeface="Arial"/>
              </a:rPr>
              <a:t>Behavior Tree(행동트리)</a:t>
            </a:r>
          </a:p>
        </p:txBody>
      </p:sp>
      <p:sp>
        <p:nvSpPr>
          <p:cNvPr id="119" name="Google Shape;119;p17"/>
          <p:cNvSpPr/>
          <p:nvPr/>
        </p:nvSpPr>
        <p:spPr>
          <a:xfrm>
            <a:off x="470375" y="3714725"/>
            <a:ext cx="3764100" cy="10956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ko" sz="1300">
                <a:solidFill>
                  <a:schemeClr val="dk2"/>
                </a:solidFill>
              </a:rPr>
              <a:t>각 상태의 </a:t>
            </a:r>
            <a:r>
              <a:rPr b="1" lang="ko" sz="1300">
                <a:solidFill>
                  <a:schemeClr val="dk2"/>
                </a:solidFill>
              </a:rPr>
              <a:t>전환이 명확</a:t>
            </a:r>
            <a:endParaRPr b="1"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ko" sz="1300">
                <a:solidFill>
                  <a:schemeClr val="dk2"/>
                </a:solidFill>
              </a:rPr>
              <a:t>입력에 </a:t>
            </a:r>
            <a:r>
              <a:rPr b="1" lang="ko" sz="1300">
                <a:solidFill>
                  <a:schemeClr val="dk2"/>
                </a:solidFill>
              </a:rPr>
              <a:t>빠르게 반응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</a:rPr>
              <a:t>사용자가 </a:t>
            </a:r>
            <a:r>
              <a:rPr i="1" lang="ko" sz="1500">
                <a:solidFill>
                  <a:schemeClr val="dk2"/>
                </a:solidFill>
              </a:rPr>
              <a:t>“</a:t>
            </a:r>
            <a:r>
              <a:rPr b="1" i="1" lang="ko" sz="1500">
                <a:solidFill>
                  <a:schemeClr val="dk2"/>
                </a:solidFill>
              </a:rPr>
              <a:t>직접 컨트롤”</a:t>
            </a:r>
            <a:r>
              <a:rPr b="1" lang="ko" sz="1500">
                <a:solidFill>
                  <a:schemeClr val="dk2"/>
                </a:solidFill>
              </a:rPr>
              <a:t> 하는 캐릭터</a:t>
            </a:r>
            <a:r>
              <a:rPr lang="ko" sz="1500">
                <a:solidFill>
                  <a:schemeClr val="dk2"/>
                </a:solidFill>
              </a:rPr>
              <a:t> 적합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4794850" y="3714725"/>
            <a:ext cx="3764100" cy="1095600"/>
          </a:xfrm>
          <a:prstGeom prst="round2DiagRect">
            <a:avLst>
              <a:gd fmla="val 577" name="adj1"/>
              <a:gd fmla="val 16121" name="adj2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b="1" lang="ko" sz="1300">
                <a:solidFill>
                  <a:schemeClr val="dk2"/>
                </a:solidFill>
              </a:rPr>
              <a:t>우선 순위 기반</a:t>
            </a:r>
            <a:r>
              <a:rPr lang="ko" sz="1300">
                <a:solidFill>
                  <a:schemeClr val="dk2"/>
                </a:solidFill>
              </a:rPr>
              <a:t>의 행동을 수행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b="1" lang="ko" sz="1300">
                <a:solidFill>
                  <a:schemeClr val="dk2"/>
                </a:solidFill>
              </a:rPr>
              <a:t>유연한 의사결정</a:t>
            </a:r>
            <a:r>
              <a:rPr lang="ko" sz="1300">
                <a:solidFill>
                  <a:schemeClr val="dk2"/>
                </a:solidFill>
              </a:rPr>
              <a:t> 판단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ko" sz="1500">
                <a:solidFill>
                  <a:schemeClr val="dk2"/>
                </a:solidFill>
              </a:rPr>
              <a:t>“스스로 행동”</a:t>
            </a:r>
            <a:r>
              <a:rPr b="1" lang="ko" sz="1500">
                <a:solidFill>
                  <a:schemeClr val="dk2"/>
                </a:solidFill>
              </a:rPr>
              <a:t> 하는 적 캐릭터</a:t>
            </a:r>
            <a:r>
              <a:rPr lang="ko" sz="1500">
                <a:solidFill>
                  <a:schemeClr val="dk2"/>
                </a:solidFill>
              </a:rPr>
              <a:t>에게 적합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/>
        </p:nvSpPr>
        <p:spPr>
          <a:xfrm>
            <a:off x="0" y="0"/>
            <a:ext cx="255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ko" sz="1800">
                <a:solidFill>
                  <a:srgbClr val="595959"/>
                </a:solidFill>
              </a:rPr>
              <a:t>3. </a:t>
            </a:r>
            <a:r>
              <a:rPr b="1" lang="ko" sz="1800">
                <a:solidFill>
                  <a:srgbClr val="595959"/>
                </a:solidFill>
              </a:rPr>
              <a:t>캐릭터 구조(</a:t>
            </a:r>
            <a:r>
              <a:rPr b="1" lang="ko" sz="1800">
                <a:solidFill>
                  <a:srgbClr val="595959"/>
                </a:solidFill>
              </a:rPr>
              <a:t>추상화)</a:t>
            </a:r>
            <a:endParaRPr b="1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0" y="400200"/>
            <a:ext cx="2418900" cy="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0" y="5063400"/>
            <a:ext cx="9144000" cy="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3465350" y="400200"/>
            <a:ext cx="1216200" cy="519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Character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공통추상 클래스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6503926" y="1473225"/>
            <a:ext cx="990900" cy="439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Enemy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추상 클래스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2775850" y="2036175"/>
            <a:ext cx="1093200" cy="439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Player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상태머신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5342576" y="2478925"/>
            <a:ext cx="990900" cy="439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Monster1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cxnSp>
        <p:nvCxnSpPr>
          <p:cNvPr id="132" name="Google Shape;132;p18"/>
          <p:cNvCxnSpPr>
            <a:stCxn id="128" idx="2"/>
            <a:endCxn id="129" idx="0"/>
          </p:cNvCxnSpPr>
          <p:nvPr/>
        </p:nvCxnSpPr>
        <p:spPr>
          <a:xfrm flipH="1" rot="-5400000">
            <a:off x="5259800" y="-266250"/>
            <a:ext cx="553200" cy="2925900"/>
          </a:xfrm>
          <a:prstGeom prst="bentConnector3">
            <a:avLst>
              <a:gd fmla="val 5552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3" name="Google Shape;133;p18"/>
          <p:cNvCxnSpPr>
            <a:stCxn id="129" idx="2"/>
            <a:endCxn id="131" idx="0"/>
          </p:cNvCxnSpPr>
          <p:nvPr/>
        </p:nvCxnSpPr>
        <p:spPr>
          <a:xfrm rot="5400000">
            <a:off x="6135826" y="1615275"/>
            <a:ext cx="565800" cy="1161300"/>
          </a:xfrm>
          <a:prstGeom prst="bentConnector3">
            <a:avLst>
              <a:gd fmla="val 5000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34" name="Google Shape;134;p18"/>
          <p:cNvSpPr/>
          <p:nvPr/>
        </p:nvSpPr>
        <p:spPr>
          <a:xfrm>
            <a:off x="5342450" y="440250"/>
            <a:ext cx="1216200" cy="439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IDamagable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인터페이스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cxnSp>
        <p:nvCxnSpPr>
          <p:cNvPr id="135" name="Google Shape;135;p18"/>
          <p:cNvCxnSpPr>
            <a:stCxn id="128" idx="3"/>
            <a:endCxn id="134" idx="1"/>
          </p:cNvCxnSpPr>
          <p:nvPr/>
        </p:nvCxnSpPr>
        <p:spPr>
          <a:xfrm>
            <a:off x="4681550" y="660150"/>
            <a:ext cx="66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36" name="Google Shape;136;p18"/>
          <p:cNvSpPr/>
          <p:nvPr/>
        </p:nvSpPr>
        <p:spPr>
          <a:xfrm>
            <a:off x="6503926" y="2466150"/>
            <a:ext cx="990900" cy="439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Monster2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7665276" y="2478925"/>
            <a:ext cx="990900" cy="439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Monster3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cxnSp>
        <p:nvCxnSpPr>
          <p:cNvPr id="138" name="Google Shape;138;p18"/>
          <p:cNvCxnSpPr>
            <a:stCxn id="129" idx="2"/>
            <a:endCxn id="137" idx="0"/>
          </p:cNvCxnSpPr>
          <p:nvPr/>
        </p:nvCxnSpPr>
        <p:spPr>
          <a:xfrm flipH="1" rot="-5400000">
            <a:off x="7297126" y="1615275"/>
            <a:ext cx="565800" cy="1161300"/>
          </a:xfrm>
          <a:prstGeom prst="bentConnector3">
            <a:avLst>
              <a:gd fmla="val 5000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9" name="Google Shape;139;p18"/>
          <p:cNvCxnSpPr>
            <a:stCxn id="129" idx="2"/>
            <a:endCxn id="136" idx="0"/>
          </p:cNvCxnSpPr>
          <p:nvPr/>
        </p:nvCxnSpPr>
        <p:spPr>
          <a:xfrm flipH="1" rot="-5400000">
            <a:off x="6723076" y="2189325"/>
            <a:ext cx="553200" cy="600"/>
          </a:xfrm>
          <a:prstGeom prst="bentConnector3">
            <a:avLst>
              <a:gd fmla="val 4999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0" name="Google Shape;140;p18"/>
          <p:cNvSpPr/>
          <p:nvPr/>
        </p:nvSpPr>
        <p:spPr>
          <a:xfrm>
            <a:off x="1257975" y="900138"/>
            <a:ext cx="990900" cy="439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State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추상클래스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1257675" y="2039025"/>
            <a:ext cx="990900" cy="439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PlayerBase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클래스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cxnSp>
        <p:nvCxnSpPr>
          <p:cNvPr id="142" name="Google Shape;142;p18"/>
          <p:cNvCxnSpPr>
            <a:stCxn id="128" idx="2"/>
            <a:endCxn id="130" idx="0"/>
          </p:cNvCxnSpPr>
          <p:nvPr/>
        </p:nvCxnSpPr>
        <p:spPr>
          <a:xfrm rot="5400000">
            <a:off x="3140000" y="1102650"/>
            <a:ext cx="1116000" cy="750900"/>
          </a:xfrm>
          <a:prstGeom prst="bentConnector3">
            <a:avLst>
              <a:gd fmla="val 28625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3" name="Google Shape;143;p18"/>
          <p:cNvCxnSpPr>
            <a:stCxn id="140" idx="2"/>
            <a:endCxn id="141" idx="0"/>
          </p:cNvCxnSpPr>
          <p:nvPr/>
        </p:nvCxnSpPr>
        <p:spPr>
          <a:xfrm flipH="1" rot="-5400000">
            <a:off x="1404225" y="1689138"/>
            <a:ext cx="699000" cy="600"/>
          </a:xfrm>
          <a:prstGeom prst="bentConnector3">
            <a:avLst>
              <a:gd fmla="val 5000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4" name="Google Shape;144;p18"/>
          <p:cNvCxnSpPr>
            <a:stCxn id="130" idx="1"/>
            <a:endCxn id="141" idx="3"/>
          </p:cNvCxnSpPr>
          <p:nvPr/>
        </p:nvCxnSpPr>
        <p:spPr>
          <a:xfrm flipH="1">
            <a:off x="2248450" y="2256075"/>
            <a:ext cx="527400" cy="3000"/>
          </a:xfrm>
          <a:prstGeom prst="bentConnector3">
            <a:avLst>
              <a:gd fmla="val 4998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5" name="Google Shape;145;p18"/>
          <p:cNvSpPr/>
          <p:nvPr/>
        </p:nvSpPr>
        <p:spPr>
          <a:xfrm>
            <a:off x="96326" y="3748625"/>
            <a:ext cx="990900" cy="439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FreeLook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상태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cxnSp>
        <p:nvCxnSpPr>
          <p:cNvPr id="146" name="Google Shape;146;p18"/>
          <p:cNvCxnSpPr>
            <a:stCxn id="141" idx="2"/>
            <a:endCxn id="145" idx="0"/>
          </p:cNvCxnSpPr>
          <p:nvPr/>
        </p:nvCxnSpPr>
        <p:spPr>
          <a:xfrm rot="5400000">
            <a:off x="537525" y="2533125"/>
            <a:ext cx="1269900" cy="11613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7" name="Google Shape;147;p18"/>
          <p:cNvSpPr/>
          <p:nvPr/>
        </p:nvSpPr>
        <p:spPr>
          <a:xfrm>
            <a:off x="1257676" y="3735850"/>
            <a:ext cx="990900" cy="439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TargetLook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상태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2419026" y="3748625"/>
            <a:ext cx="990900" cy="439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Dead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lt1"/>
                </a:solidFill>
                <a:highlight>
                  <a:schemeClr val="dk1"/>
                </a:highlight>
              </a:rPr>
              <a:t>상태</a:t>
            </a:r>
            <a:endParaRPr b="1"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cxnSp>
        <p:nvCxnSpPr>
          <p:cNvPr id="149" name="Google Shape;149;p18"/>
          <p:cNvCxnSpPr>
            <a:stCxn id="141" idx="2"/>
            <a:endCxn id="148" idx="0"/>
          </p:cNvCxnSpPr>
          <p:nvPr/>
        </p:nvCxnSpPr>
        <p:spPr>
          <a:xfrm flipH="1" rot="-5400000">
            <a:off x="1698825" y="2533125"/>
            <a:ext cx="1269900" cy="11613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0" name="Google Shape;150;p18"/>
          <p:cNvCxnSpPr>
            <a:stCxn id="141" idx="2"/>
            <a:endCxn id="147" idx="0"/>
          </p:cNvCxnSpPr>
          <p:nvPr/>
        </p:nvCxnSpPr>
        <p:spPr>
          <a:xfrm flipH="1" rot="-5400000">
            <a:off x="1124925" y="3107025"/>
            <a:ext cx="1257000" cy="600"/>
          </a:xfrm>
          <a:prstGeom prst="bentConnector3">
            <a:avLst>
              <a:gd fmla="val 5000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51" name="Google Shape;151;p18"/>
          <p:cNvSpPr/>
          <p:nvPr/>
        </p:nvSpPr>
        <p:spPr>
          <a:xfrm>
            <a:off x="3826900" y="3317825"/>
            <a:ext cx="5082000" cy="1571100"/>
          </a:xfrm>
          <a:prstGeom prst="round2DiagRect">
            <a:avLst>
              <a:gd fmla="val 20306" name="adj1"/>
              <a:gd fmla="val 16121" name="adj2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ko" sz="1500">
                <a:solidFill>
                  <a:schemeClr val="dk2"/>
                </a:solidFill>
              </a:rPr>
              <a:t>공통된 인터페이스 또는 부모를 상속받아 유닛간의 </a:t>
            </a:r>
            <a:r>
              <a:rPr b="1" lang="ko" sz="1500">
                <a:solidFill>
                  <a:schemeClr val="dk2"/>
                </a:solidFill>
              </a:rPr>
              <a:t>데미지 교환 로직을 단일화</a:t>
            </a:r>
            <a:r>
              <a:rPr lang="ko" sz="1500">
                <a:solidFill>
                  <a:schemeClr val="dk2"/>
                </a:solidFill>
              </a:rPr>
              <a:t> 시키도록 설계.</a:t>
            </a:r>
            <a:endParaRPr sz="1500">
              <a:solidFill>
                <a:schemeClr val="dk2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"/>
              <a:buChar char="●"/>
            </a:pPr>
            <a:r>
              <a:t/>
            </a:r>
            <a:endParaRPr sz="3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ko" sz="1500">
                <a:solidFill>
                  <a:schemeClr val="dk2"/>
                </a:solidFill>
              </a:rPr>
              <a:t>내부 데미지 계산 로직이나 스탯 처리 방식은 </a:t>
            </a:r>
            <a:r>
              <a:rPr lang="ko" sz="1500" u="sng">
                <a:solidFill>
                  <a:schemeClr val="dk2"/>
                </a:solidFill>
              </a:rPr>
              <a:t>개별 클래스에서 다르게 구현함</a:t>
            </a:r>
            <a:r>
              <a:rPr lang="ko" sz="1500">
                <a:solidFill>
                  <a:schemeClr val="dk2"/>
                </a:solidFill>
              </a:rPr>
              <a:t>으로써 </a:t>
            </a:r>
            <a:r>
              <a:rPr b="1" lang="ko" sz="1500">
                <a:solidFill>
                  <a:schemeClr val="dk2"/>
                </a:solidFill>
              </a:rPr>
              <a:t>다형성을 활용</a:t>
            </a:r>
            <a:endParaRPr b="1"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/>
        </p:nvSpPr>
        <p:spPr>
          <a:xfrm>
            <a:off x="0" y="0"/>
            <a:ext cx="22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ko" sz="1800">
                <a:solidFill>
                  <a:srgbClr val="595959"/>
                </a:solidFill>
              </a:rPr>
              <a:t>3. 플레이어(FSM)</a:t>
            </a:r>
            <a:endParaRPr b="1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0" y="400200"/>
            <a:ext cx="2295600" cy="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0" y="5063400"/>
            <a:ext cx="9144000" cy="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6450" y="295925"/>
            <a:ext cx="3039697" cy="1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175" y="2043450"/>
            <a:ext cx="2845201" cy="173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4925" y="2032038"/>
            <a:ext cx="2927375" cy="176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/>
          <p:nvPr/>
        </p:nvSpPr>
        <p:spPr>
          <a:xfrm>
            <a:off x="3740538" y="2043450"/>
            <a:ext cx="1423200" cy="1056600"/>
          </a:xfrm>
          <a:prstGeom prst="leftRightUpArrow">
            <a:avLst>
              <a:gd fmla="val 29850" name="adj1"/>
              <a:gd fmla="val 25000" name="adj2"/>
              <a:gd fmla="val 25000" name="adj3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3826650" y="3100050"/>
            <a:ext cx="133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ko" sz="1800">
                <a:solidFill>
                  <a:srgbClr val="595959"/>
                </a:solidFill>
              </a:rPr>
              <a:t>상태전이</a:t>
            </a:r>
            <a:endParaRPr b="1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204225" y="3839650"/>
            <a:ext cx="3125100" cy="1166400"/>
          </a:xfrm>
          <a:prstGeom prst="round2DiagRect">
            <a:avLst>
              <a:gd fmla="val 20306" name="adj1"/>
              <a:gd fmla="val 16121" name="adj2"/>
            </a:avLst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accent1"/>
                </a:solidFill>
              </a:rPr>
              <a:t>TargetLook</a:t>
            </a:r>
            <a:r>
              <a:rPr b="1" lang="ko" sz="1200">
                <a:solidFill>
                  <a:schemeClr val="dk2"/>
                </a:solidFill>
              </a:rPr>
              <a:t>(타겟 상태)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2"/>
              </a:solidFill>
            </a:endParaRPr>
          </a:p>
          <a:p>
            <a:pPr indent="-139100" lvl="0" marL="3060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ko" sz="1000">
                <a:solidFill>
                  <a:schemeClr val="dk2"/>
                </a:solidFill>
              </a:rPr>
              <a:t>Tab키 입력으로 타겟과 자유시점 상태 전이</a:t>
            </a:r>
            <a:endParaRPr sz="1000">
              <a:solidFill>
                <a:schemeClr val="dk2"/>
              </a:solidFill>
            </a:endParaRPr>
          </a:p>
          <a:p>
            <a:pPr indent="-139100" lvl="0" marL="3060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ko" sz="1000">
                <a:solidFill>
                  <a:schemeClr val="dk2"/>
                </a:solidFill>
              </a:rPr>
              <a:t>Cinemachine TargetGroup 카메라로 타겟을 중심축으로 </a:t>
            </a:r>
            <a:r>
              <a:rPr b="1" lang="ko" sz="1000">
                <a:solidFill>
                  <a:schemeClr val="dk2"/>
                </a:solidFill>
              </a:rPr>
              <a:t>고정시야</a:t>
            </a:r>
            <a:r>
              <a:rPr lang="ko" sz="1000">
                <a:solidFill>
                  <a:schemeClr val="dk2"/>
                </a:solidFill>
              </a:rPr>
              <a:t> 확인</a:t>
            </a:r>
            <a:endParaRPr sz="1000">
              <a:solidFill>
                <a:schemeClr val="dk2"/>
              </a:solidFill>
            </a:endParaRPr>
          </a:p>
          <a:p>
            <a:pPr indent="-135500" lvl="0" marL="302399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ko" sz="1000">
                <a:solidFill>
                  <a:schemeClr val="dk2"/>
                </a:solidFill>
              </a:rPr>
              <a:t>타겟이 된 적은 </a:t>
            </a:r>
            <a:r>
              <a:rPr i="1" lang="ko" sz="1000">
                <a:solidFill>
                  <a:schemeClr val="dk2"/>
                </a:solidFill>
              </a:rPr>
              <a:t>파란계열의 </a:t>
            </a:r>
            <a:r>
              <a:rPr b="1" i="1" lang="ko" sz="1000">
                <a:solidFill>
                  <a:schemeClr val="dk2"/>
                </a:solidFill>
              </a:rPr>
              <a:t>RimLight </a:t>
            </a:r>
            <a:r>
              <a:rPr lang="ko" sz="1000">
                <a:solidFill>
                  <a:schemeClr val="dk2"/>
                </a:solidFill>
              </a:rPr>
              <a:t>효과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6032700" y="503425"/>
            <a:ext cx="2927400" cy="1166400"/>
          </a:xfrm>
          <a:prstGeom prst="round2DiagRect">
            <a:avLst>
              <a:gd fmla="val 20306" name="adj1"/>
              <a:gd fmla="val 16121" name="adj2"/>
            </a:avLst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FF0000"/>
                </a:solidFill>
              </a:rPr>
              <a:t>FreeLook</a:t>
            </a:r>
            <a:r>
              <a:rPr b="1" lang="ko" sz="1600">
                <a:solidFill>
                  <a:schemeClr val="dk2"/>
                </a:solidFill>
              </a:rPr>
              <a:t> </a:t>
            </a:r>
            <a:r>
              <a:rPr b="1" lang="ko" sz="1200">
                <a:solidFill>
                  <a:schemeClr val="dk2"/>
                </a:solidFill>
              </a:rPr>
              <a:t>(자유시점 상태)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2"/>
              </a:solidFill>
            </a:endParaRPr>
          </a:p>
          <a:p>
            <a:pPr indent="-135500" lvl="0" marL="302399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ko" sz="1000">
                <a:solidFill>
                  <a:schemeClr val="dk2"/>
                </a:solidFill>
              </a:rPr>
              <a:t>Cinemachine FreeLook카메라로 캐릭터의 3개 y축에서 </a:t>
            </a:r>
            <a:r>
              <a:rPr b="1" lang="ko" sz="1000">
                <a:solidFill>
                  <a:schemeClr val="dk2"/>
                </a:solidFill>
              </a:rPr>
              <a:t>360도 회전으로 주변 시야</a:t>
            </a:r>
            <a:r>
              <a:rPr lang="ko" sz="1000">
                <a:solidFill>
                  <a:schemeClr val="dk2"/>
                </a:solidFill>
              </a:rPr>
              <a:t> 확인</a:t>
            </a:r>
            <a:endParaRPr b="1" sz="1500">
              <a:solidFill>
                <a:schemeClr val="accent1"/>
              </a:solidFill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5714913" y="3900261"/>
            <a:ext cx="2927400" cy="1056600"/>
          </a:xfrm>
          <a:prstGeom prst="round2DiagRect">
            <a:avLst>
              <a:gd fmla="val 20306" name="adj1"/>
              <a:gd fmla="val 16121" name="adj2"/>
            </a:avLst>
          </a:prstGeom>
          <a:solidFill>
            <a:schemeClr val="lt1"/>
          </a:solidFill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rgbClr val="9900FF"/>
                </a:solidFill>
              </a:rPr>
              <a:t>Dead</a:t>
            </a:r>
            <a:r>
              <a:rPr b="1" lang="ko" sz="1200">
                <a:solidFill>
                  <a:schemeClr val="dk2"/>
                </a:solidFill>
              </a:rPr>
              <a:t>(죽음 상태)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2"/>
              </a:solidFill>
            </a:endParaRPr>
          </a:p>
          <a:p>
            <a:pPr indent="-135500" lvl="0" marL="302399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ko" sz="1000">
                <a:solidFill>
                  <a:schemeClr val="dk2"/>
                </a:solidFill>
              </a:rPr>
              <a:t>체력이 0이되면 어느 상태에서든 전환되며 </a:t>
            </a:r>
            <a:r>
              <a:rPr b="1" i="1" lang="ko" sz="1000">
                <a:solidFill>
                  <a:schemeClr val="dk2"/>
                </a:solidFill>
              </a:rPr>
              <a:t>Dissolve</a:t>
            </a:r>
            <a:r>
              <a:rPr i="1" lang="ko" sz="1000">
                <a:solidFill>
                  <a:schemeClr val="dk2"/>
                </a:solidFill>
              </a:rPr>
              <a:t> 효과</a:t>
            </a:r>
            <a:r>
              <a:rPr lang="ko" sz="1000">
                <a:solidFill>
                  <a:schemeClr val="dk2"/>
                </a:solidFill>
              </a:rPr>
              <a:t>로 플레이어가 점차 사라지는 효과연출</a:t>
            </a:r>
            <a:endParaRPr b="1" sz="15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/>
        </p:nvSpPr>
        <p:spPr>
          <a:xfrm>
            <a:off x="0" y="0"/>
            <a:ext cx="22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ko" sz="1800">
                <a:solidFill>
                  <a:srgbClr val="595959"/>
                </a:solidFill>
              </a:rPr>
              <a:t>3. 적 </a:t>
            </a:r>
            <a:r>
              <a:rPr b="1" lang="ko" sz="1800">
                <a:solidFill>
                  <a:srgbClr val="595959"/>
                </a:solidFill>
              </a:rPr>
              <a:t>(</a:t>
            </a:r>
            <a:r>
              <a:rPr b="1" lang="ko" sz="1800">
                <a:solidFill>
                  <a:srgbClr val="595959"/>
                </a:solidFill>
              </a:rPr>
              <a:t>행동트리</a:t>
            </a:r>
            <a:r>
              <a:rPr b="1" lang="ko" sz="1800">
                <a:solidFill>
                  <a:srgbClr val="595959"/>
                </a:solidFill>
              </a:rPr>
              <a:t>)</a:t>
            </a:r>
            <a:endParaRPr b="1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0" y="400200"/>
            <a:ext cx="2295600" cy="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0" y="5063400"/>
            <a:ext cx="9144000" cy="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1470138" y="802150"/>
            <a:ext cx="909300" cy="333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lt1"/>
                </a:solidFill>
                <a:highlight>
                  <a:schemeClr val="dk1"/>
                </a:highlight>
              </a:rPr>
              <a:t>루트</a:t>
            </a:r>
            <a:endParaRPr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1457418" y="1554625"/>
            <a:ext cx="928800" cy="333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lt1"/>
                </a:solidFill>
                <a:highlight>
                  <a:schemeClr val="dk1"/>
                </a:highlight>
              </a:rPr>
              <a:t>이동시퀀스</a:t>
            </a:r>
            <a:endParaRPr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194352" y="1554625"/>
            <a:ext cx="928800" cy="333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lt1"/>
                </a:solidFill>
                <a:highlight>
                  <a:schemeClr val="dk1"/>
                </a:highlight>
              </a:rPr>
              <a:t>탐지시퀀스</a:t>
            </a:r>
            <a:endParaRPr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205163" y="2316775"/>
            <a:ext cx="909300" cy="333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lt1"/>
                </a:solidFill>
                <a:highlight>
                  <a:schemeClr val="dk1"/>
                </a:highlight>
              </a:rPr>
              <a:t>탐지액션</a:t>
            </a:r>
            <a:endParaRPr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1470138" y="2307100"/>
            <a:ext cx="909300" cy="333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lt1"/>
                </a:solidFill>
                <a:highlight>
                  <a:schemeClr val="dk1"/>
                </a:highlight>
              </a:rPr>
              <a:t>이동액션</a:t>
            </a:r>
            <a:endParaRPr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2535873" y="2316775"/>
            <a:ext cx="909300" cy="333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lt1"/>
                </a:solidFill>
                <a:highlight>
                  <a:schemeClr val="dk1"/>
                </a:highlight>
              </a:rPr>
              <a:t>공격액션1</a:t>
            </a:r>
            <a:endParaRPr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3631044" y="2316775"/>
            <a:ext cx="909300" cy="333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lt1"/>
                </a:solidFill>
                <a:highlight>
                  <a:schemeClr val="dk1"/>
                </a:highlight>
              </a:rPr>
              <a:t>공격액션2</a:t>
            </a:r>
            <a:endParaRPr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3027557" y="1554625"/>
            <a:ext cx="977700" cy="333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lt1"/>
                </a:solidFill>
                <a:highlight>
                  <a:schemeClr val="dk1"/>
                </a:highlight>
              </a:rPr>
              <a:t>공격셀렉터</a:t>
            </a:r>
            <a:endParaRPr sz="11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cxnSp>
        <p:nvCxnSpPr>
          <p:cNvPr id="182" name="Google Shape;182;p20"/>
          <p:cNvCxnSpPr>
            <a:stCxn id="174" idx="2"/>
            <a:endCxn id="176" idx="0"/>
          </p:cNvCxnSpPr>
          <p:nvPr/>
        </p:nvCxnSpPr>
        <p:spPr>
          <a:xfrm rot="5400000">
            <a:off x="1082238" y="712000"/>
            <a:ext cx="419100" cy="1266000"/>
          </a:xfrm>
          <a:prstGeom prst="bentConnector3">
            <a:avLst>
              <a:gd fmla="val 5000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" name="Google Shape;183;p20"/>
          <p:cNvCxnSpPr>
            <a:stCxn id="174" idx="2"/>
            <a:endCxn id="175" idx="0"/>
          </p:cNvCxnSpPr>
          <p:nvPr/>
        </p:nvCxnSpPr>
        <p:spPr>
          <a:xfrm rot="5400000">
            <a:off x="1713738" y="1343500"/>
            <a:ext cx="419100" cy="3000"/>
          </a:xfrm>
          <a:prstGeom prst="bentConnector3">
            <a:avLst>
              <a:gd fmla="val 5000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" name="Google Shape;184;p20"/>
          <p:cNvCxnSpPr>
            <a:stCxn id="176" idx="2"/>
            <a:endCxn id="177" idx="0"/>
          </p:cNvCxnSpPr>
          <p:nvPr/>
        </p:nvCxnSpPr>
        <p:spPr>
          <a:xfrm flipH="1" rot="-5400000">
            <a:off x="444852" y="2101825"/>
            <a:ext cx="429000" cy="1200"/>
          </a:xfrm>
          <a:prstGeom prst="bentConnector3">
            <a:avLst>
              <a:gd fmla="val 4998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5" name="Google Shape;185;p20"/>
          <p:cNvCxnSpPr>
            <a:stCxn id="175" idx="2"/>
            <a:endCxn id="178" idx="0"/>
          </p:cNvCxnSpPr>
          <p:nvPr/>
        </p:nvCxnSpPr>
        <p:spPr>
          <a:xfrm flipH="1" rot="-5400000">
            <a:off x="1713768" y="2095975"/>
            <a:ext cx="419100" cy="3000"/>
          </a:xfrm>
          <a:prstGeom prst="bentConnector3">
            <a:avLst>
              <a:gd fmla="val 5000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6" name="Google Shape;186;p20"/>
          <p:cNvCxnSpPr>
            <a:stCxn id="174" idx="2"/>
            <a:endCxn id="181" idx="0"/>
          </p:cNvCxnSpPr>
          <p:nvPr/>
        </p:nvCxnSpPr>
        <p:spPr>
          <a:xfrm flipH="1" rot="-5400000">
            <a:off x="2510988" y="549250"/>
            <a:ext cx="419100" cy="1591500"/>
          </a:xfrm>
          <a:prstGeom prst="bentConnector3">
            <a:avLst>
              <a:gd fmla="val 5000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7" name="Google Shape;187;p20"/>
          <p:cNvCxnSpPr>
            <a:stCxn id="181" idx="2"/>
            <a:endCxn id="179" idx="0"/>
          </p:cNvCxnSpPr>
          <p:nvPr/>
        </p:nvCxnSpPr>
        <p:spPr>
          <a:xfrm rot="5400000">
            <a:off x="3038957" y="1839475"/>
            <a:ext cx="429000" cy="525900"/>
          </a:xfrm>
          <a:prstGeom prst="bentConnector3">
            <a:avLst>
              <a:gd fmla="val 4998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8" name="Google Shape;188;p20"/>
          <p:cNvCxnSpPr>
            <a:stCxn id="181" idx="2"/>
            <a:endCxn id="180" idx="0"/>
          </p:cNvCxnSpPr>
          <p:nvPr/>
        </p:nvCxnSpPr>
        <p:spPr>
          <a:xfrm flipH="1" rot="-5400000">
            <a:off x="3586607" y="1817725"/>
            <a:ext cx="429000" cy="569400"/>
          </a:xfrm>
          <a:prstGeom prst="bentConnector3">
            <a:avLst>
              <a:gd fmla="val 4998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9" name="Google Shape;189;p20"/>
          <p:cNvSpPr/>
          <p:nvPr/>
        </p:nvSpPr>
        <p:spPr>
          <a:xfrm>
            <a:off x="4669875" y="117500"/>
            <a:ext cx="909300" cy="3333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00"/>
                </a:highlight>
              </a:rPr>
              <a:t>탐지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4669863" y="3331313"/>
            <a:ext cx="909300" cy="3333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00"/>
                </a:highlight>
              </a:rPr>
              <a:t>공격로직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591438" y="28225"/>
            <a:ext cx="600" cy="491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4732325" y="4388425"/>
            <a:ext cx="535200" cy="5118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4764425" y="4074450"/>
            <a:ext cx="471000" cy="471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 rot="-830749">
            <a:off x="5322937" y="4145081"/>
            <a:ext cx="613012" cy="18692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322840" y="4439587"/>
            <a:ext cx="613200" cy="18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 rot="-868293">
            <a:off x="5165873" y="4040699"/>
            <a:ext cx="852343" cy="134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>
                <a:solidFill>
                  <a:schemeClr val="accent1"/>
                </a:solidFill>
              </a:rPr>
              <a:t>directToPlayer</a:t>
            </a:r>
            <a:endParaRPr b="1" sz="700">
              <a:solidFill>
                <a:schemeClr val="accent1"/>
              </a:solidFill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203300" y="4576975"/>
            <a:ext cx="852300" cy="1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700">
                <a:solidFill>
                  <a:schemeClr val="dk2"/>
                </a:solidFill>
              </a:rPr>
              <a:t>Forward</a:t>
            </a:r>
            <a:endParaRPr b="1" sz="700">
              <a:solidFill>
                <a:schemeClr val="dk2"/>
              </a:solidFill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4669863" y="1887950"/>
            <a:ext cx="909300" cy="3333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highlight>
                  <a:srgbClr val="FFFF00"/>
                </a:highlight>
              </a:rPr>
              <a:t>이동</a:t>
            </a:r>
            <a:endParaRPr sz="11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4939636" y="646463"/>
            <a:ext cx="1144800" cy="1045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320317" y="1148409"/>
            <a:ext cx="261600" cy="2445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5336007" y="998379"/>
            <a:ext cx="230100" cy="225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5817443" y="886210"/>
            <a:ext cx="261600" cy="2445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5833133" y="736179"/>
            <a:ext cx="230100" cy="225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 rot="10800000">
            <a:off x="5525359" y="914377"/>
            <a:ext cx="48300" cy="126900"/>
          </a:xfrm>
          <a:prstGeom prst="trapezoid">
            <a:avLst>
              <a:gd fmla="val 35883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5536936" y="1048347"/>
            <a:ext cx="25200" cy="369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4732325" y="2643823"/>
            <a:ext cx="471000" cy="4158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4760574" y="2388772"/>
            <a:ext cx="414600" cy="382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6305300" y="2639897"/>
            <a:ext cx="299100" cy="2919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6323232" y="2460799"/>
            <a:ext cx="263100" cy="26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5220225" y="2329400"/>
            <a:ext cx="1033500" cy="419100"/>
          </a:xfrm>
          <a:prstGeom prst="uturnArrow">
            <a:avLst>
              <a:gd fmla="val 25000" name="adj1"/>
              <a:gd fmla="val 25000" name="adj2"/>
              <a:gd fmla="val 35102" name="adj3"/>
              <a:gd fmla="val 43750" name="adj4"/>
              <a:gd fmla="val 75000" name="adj5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5481925" y="2273702"/>
            <a:ext cx="414600" cy="785925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2" name="Google Shape;212;p20"/>
          <p:cNvCxnSpPr/>
          <p:nvPr/>
        </p:nvCxnSpPr>
        <p:spPr>
          <a:xfrm>
            <a:off x="4613700" y="1830125"/>
            <a:ext cx="4485000" cy="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0"/>
          <p:cNvCxnSpPr/>
          <p:nvPr/>
        </p:nvCxnSpPr>
        <p:spPr>
          <a:xfrm>
            <a:off x="4613700" y="3263900"/>
            <a:ext cx="4485000" cy="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20"/>
          <p:cNvSpPr/>
          <p:nvPr/>
        </p:nvSpPr>
        <p:spPr>
          <a:xfrm>
            <a:off x="6023475" y="4051672"/>
            <a:ext cx="299100" cy="2919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6041407" y="3872574"/>
            <a:ext cx="263100" cy="26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6041400" y="4774525"/>
            <a:ext cx="1144696" cy="2260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dk1"/>
                </a:solidFill>
                <a:latin typeface="Arial"/>
              </a:rPr>
              <a:t>Dot &gt; 0.9</a:t>
            </a:r>
          </a:p>
        </p:txBody>
      </p:sp>
      <p:sp>
        <p:nvSpPr>
          <p:cNvPr id="217" name="Google Shape;217;p20"/>
          <p:cNvSpPr txBox="1"/>
          <p:nvPr/>
        </p:nvSpPr>
        <p:spPr>
          <a:xfrm>
            <a:off x="7045800" y="1487900"/>
            <a:ext cx="20529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chemeClr val="dk2"/>
                </a:solidFill>
              </a:rPr>
              <a:t>탐지거리 &gt; 플레이어와의 거리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65225" y="3249700"/>
            <a:ext cx="4386000" cy="1214100"/>
          </a:xfrm>
          <a:prstGeom prst="round2DiagRect">
            <a:avLst>
              <a:gd fmla="val 20306" name="adj1"/>
              <a:gd fmla="val 16121" name="adj2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적 AI는 탐지 → 이동 → 공격의 흐름으로 구성되어,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chemeClr val="dk2"/>
                </a:solidFill>
              </a:rPr>
              <a:t>실제 행동처럼 자연스럽게 순차 실행</a:t>
            </a:r>
            <a:endParaRPr b="1"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탐지 성공 시 → 목표 지점으로 이동 → 도달 시 공격 수행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6253725" y="747875"/>
            <a:ext cx="2767500" cy="689700"/>
          </a:xfrm>
          <a:prstGeom prst="wedgeRectCallout">
            <a:avLst>
              <a:gd fmla="val -59743" name="adj1"/>
              <a:gd fmla="val 42909" name="adj2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2"/>
                </a:solidFill>
              </a:rPr>
              <a:t>DisToPlayer= (플레이어 위치 - 내 위치)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2"/>
                </a:solidFill>
              </a:rPr>
              <a:t>DisToPlayer.y=0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DetectedRange &gt;= DisToPlayer.magnitude</a:t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5896525" y="53450"/>
            <a:ext cx="3189300" cy="644100"/>
          </a:xfrm>
          <a:prstGeom prst="round2DiagRect">
            <a:avLst>
              <a:gd fmla="val 17998" name="adj1"/>
              <a:gd fmla="val 16121" name="adj2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2"/>
                </a:solidFill>
              </a:rPr>
              <a:t>플레이어와의 거리가 사전에 설정해둔 탐지 거리보다 가까우면 플레이어를 탐지한 것으로 판단.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(거리 비교는 y=0으로 평면거리의 벡터 크기로 연산)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6747275" y="2650075"/>
            <a:ext cx="2295600" cy="593100"/>
          </a:xfrm>
          <a:prstGeom prst="wedgeRectCallout">
            <a:avLst>
              <a:gd fmla="val -65949" name="adj1"/>
              <a:gd fmla="val 9652" name="adj2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2"/>
                </a:solidFill>
              </a:rPr>
              <a:t>탐지성공 시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chemeClr val="dk2"/>
                </a:solidFill>
              </a:rPr>
              <a:t>AI Navigation</a:t>
            </a:r>
            <a:r>
              <a:rPr lang="ko" sz="1000">
                <a:solidFill>
                  <a:schemeClr val="dk2"/>
                </a:solidFill>
              </a:rPr>
              <a:t>으로 적이 맵 지형을 돌아서 이동할 수 있게 설정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6530325" y="3335825"/>
            <a:ext cx="2568600" cy="1375800"/>
          </a:xfrm>
          <a:prstGeom prst="round2DiagRect">
            <a:avLst>
              <a:gd fmla="val 20306" name="adj1"/>
              <a:gd fmla="val 16121" name="adj2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35500" lvl="0" marL="302399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ko" sz="1000">
                <a:solidFill>
                  <a:schemeClr val="dk2"/>
                </a:solidFill>
              </a:rPr>
              <a:t>회전할때 적이 바라보는 방향벡터와 플레이어와의 방향벡터를 dot(내적)연산으로 0.9보다 크면 대상을 바라보는 것으로 판단 후 공격 수행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">
              <a:solidFill>
                <a:schemeClr val="dk2"/>
              </a:solidFill>
            </a:endParaRPr>
          </a:p>
          <a:p>
            <a:pPr indent="-135500" lvl="0" marL="302399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ko" sz="1000">
                <a:solidFill>
                  <a:schemeClr val="dk2"/>
                </a:solidFill>
              </a:rPr>
              <a:t>회전 시, Quaternion slerp로 짐벌락 현상(두 벡터가 겹치며 축이 사라지는 현상) 방지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7519675" y="4697675"/>
            <a:ext cx="1566300" cy="328200"/>
          </a:xfrm>
          <a:prstGeom prst="wedgeRectCallout">
            <a:avLst>
              <a:gd fmla="val -65949" name="adj1"/>
              <a:gd fmla="val 9652" name="adj2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코사인 값을 기준 수치로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dot = V*W*Cos세타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224" name="Google Shape;2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350" y="1887950"/>
            <a:ext cx="1396858" cy="86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"/>
          <p:cNvSpPr txBox="1"/>
          <p:nvPr/>
        </p:nvSpPr>
        <p:spPr>
          <a:xfrm>
            <a:off x="0" y="0"/>
            <a:ext cx="22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ko" sz="1800">
                <a:solidFill>
                  <a:srgbClr val="595959"/>
                </a:solidFill>
              </a:rPr>
              <a:t>4. 저장 및 불러오기</a:t>
            </a:r>
            <a:endParaRPr b="1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0" y="400200"/>
            <a:ext cx="2295600" cy="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0" y="5063400"/>
            <a:ext cx="9144000" cy="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6957425" y="1614284"/>
            <a:ext cx="1425300" cy="468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lt1"/>
                </a:solidFill>
                <a:highlight>
                  <a:schemeClr val="dk1"/>
                </a:highlight>
              </a:rPr>
              <a:t>스테이지 이동</a:t>
            </a:r>
            <a:endParaRPr sz="13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6957425" y="2416959"/>
            <a:ext cx="1425300" cy="468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lt1"/>
                </a:solidFill>
                <a:highlight>
                  <a:schemeClr val="dk1"/>
                </a:highlight>
              </a:rPr>
              <a:t>레벨업</a:t>
            </a:r>
            <a:endParaRPr sz="13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6957425" y="3219634"/>
            <a:ext cx="1425300" cy="468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lt1"/>
                </a:solidFill>
                <a:highlight>
                  <a:schemeClr val="dk1"/>
                </a:highlight>
              </a:rPr>
              <a:t>적 처치</a:t>
            </a:r>
            <a:endParaRPr sz="13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3719238" y="2146809"/>
            <a:ext cx="984600" cy="1009200"/>
          </a:xfrm>
          <a:prstGeom prst="foldedCorner">
            <a:avLst>
              <a:gd fmla="val 27173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SaveData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Json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데이터</a:t>
            </a:r>
            <a:endParaRPr b="1"/>
          </a:p>
        </p:txBody>
      </p:sp>
      <p:grpSp>
        <p:nvGrpSpPr>
          <p:cNvPr id="236" name="Google Shape;236;p21"/>
          <p:cNvGrpSpPr/>
          <p:nvPr/>
        </p:nvGrpSpPr>
        <p:grpSpPr>
          <a:xfrm>
            <a:off x="3580050" y="811224"/>
            <a:ext cx="1263000" cy="955850"/>
            <a:chOff x="4928525" y="1295025"/>
            <a:chExt cx="1263000" cy="955850"/>
          </a:xfrm>
        </p:grpSpPr>
        <p:sp>
          <p:nvSpPr>
            <p:cNvPr id="237" name="Google Shape;237;p21"/>
            <p:cNvSpPr/>
            <p:nvPr/>
          </p:nvSpPr>
          <p:spPr>
            <a:xfrm>
              <a:off x="4928525" y="1295025"/>
              <a:ext cx="513600" cy="278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1"/>
            <p:cNvSpPr/>
            <p:nvPr/>
          </p:nvSpPr>
          <p:spPr>
            <a:xfrm>
              <a:off x="4928525" y="1434150"/>
              <a:ext cx="1263000" cy="802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저장 파일</a:t>
              </a:r>
              <a:endParaRPr/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5244275" y="1972475"/>
              <a:ext cx="631500" cy="2784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A4C2F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0" name="Google Shape;240;p21"/>
          <p:cNvSpPr/>
          <p:nvPr/>
        </p:nvSpPr>
        <p:spPr>
          <a:xfrm>
            <a:off x="3498900" y="3779818"/>
            <a:ext cx="1425300" cy="468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lt1"/>
                </a:solidFill>
                <a:highlight>
                  <a:schemeClr val="dk1"/>
                </a:highlight>
              </a:rPr>
              <a:t>이어하기</a:t>
            </a:r>
            <a:endParaRPr sz="13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1110375" y="3779825"/>
            <a:ext cx="1425300" cy="468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lt1"/>
                </a:solidFill>
                <a:highlight>
                  <a:schemeClr val="dk1"/>
                </a:highlight>
              </a:rPr>
              <a:t>새 게임</a:t>
            </a:r>
            <a:endParaRPr sz="13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cxnSp>
        <p:nvCxnSpPr>
          <p:cNvPr id="242" name="Google Shape;242;p21"/>
          <p:cNvCxnSpPr>
            <a:stCxn id="232" idx="1"/>
            <a:endCxn id="235" idx="3"/>
          </p:cNvCxnSpPr>
          <p:nvPr/>
        </p:nvCxnSpPr>
        <p:spPr>
          <a:xfrm flipH="1">
            <a:off x="4703825" y="1848734"/>
            <a:ext cx="2253600" cy="802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3" name="Google Shape;243;p21"/>
          <p:cNvCxnSpPr>
            <a:stCxn id="233" idx="1"/>
            <a:endCxn id="235" idx="3"/>
          </p:cNvCxnSpPr>
          <p:nvPr/>
        </p:nvCxnSpPr>
        <p:spPr>
          <a:xfrm flipH="1">
            <a:off x="4703825" y="2651409"/>
            <a:ext cx="22536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4" name="Google Shape;244;p21"/>
          <p:cNvCxnSpPr>
            <a:stCxn id="234" idx="1"/>
            <a:endCxn id="235" idx="3"/>
          </p:cNvCxnSpPr>
          <p:nvPr/>
        </p:nvCxnSpPr>
        <p:spPr>
          <a:xfrm rot="10800000">
            <a:off x="4703825" y="2651284"/>
            <a:ext cx="2253600" cy="802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5" name="Google Shape;245;p21"/>
          <p:cNvSpPr/>
          <p:nvPr/>
        </p:nvSpPr>
        <p:spPr>
          <a:xfrm>
            <a:off x="1110525" y="2174850"/>
            <a:ext cx="1425300" cy="1009200"/>
          </a:xfrm>
          <a:prstGeom prst="foldedCorner">
            <a:avLst>
              <a:gd fmla="val 27173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초기화된 SaveData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Json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데이터</a:t>
            </a:r>
            <a:endParaRPr b="1"/>
          </a:p>
        </p:txBody>
      </p:sp>
      <p:cxnSp>
        <p:nvCxnSpPr>
          <p:cNvPr id="246" name="Google Shape;246;p21"/>
          <p:cNvCxnSpPr>
            <a:stCxn id="241" idx="0"/>
            <a:endCxn id="245" idx="2"/>
          </p:cNvCxnSpPr>
          <p:nvPr/>
        </p:nvCxnSpPr>
        <p:spPr>
          <a:xfrm rot="-5400000">
            <a:off x="1525425" y="3481625"/>
            <a:ext cx="5958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7" name="Google Shape;247;p21"/>
          <p:cNvSpPr txBox="1"/>
          <p:nvPr/>
        </p:nvSpPr>
        <p:spPr>
          <a:xfrm>
            <a:off x="6791525" y="3774525"/>
            <a:ext cx="175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인게임 중 저장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48" name="Google Shape;248;p21"/>
          <p:cNvCxnSpPr>
            <a:stCxn id="235" idx="0"/>
            <a:endCxn id="239" idx="1"/>
          </p:cNvCxnSpPr>
          <p:nvPr/>
        </p:nvCxnSpPr>
        <p:spPr>
          <a:xfrm rot="10800000">
            <a:off x="4211538" y="1767009"/>
            <a:ext cx="0" cy="37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249" name="Google Shape;249;p21"/>
          <p:cNvCxnSpPr>
            <a:stCxn id="235" idx="2"/>
            <a:endCxn id="240" idx="0"/>
          </p:cNvCxnSpPr>
          <p:nvPr/>
        </p:nvCxnSpPr>
        <p:spPr>
          <a:xfrm>
            <a:off x="4211538" y="3156009"/>
            <a:ext cx="0" cy="6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" name="Google Shape;250;p21"/>
          <p:cNvCxnSpPr>
            <a:stCxn id="245" idx="0"/>
            <a:endCxn id="238" idx="1"/>
          </p:cNvCxnSpPr>
          <p:nvPr/>
        </p:nvCxnSpPr>
        <p:spPr>
          <a:xfrm rot="-5400000">
            <a:off x="2289975" y="884850"/>
            <a:ext cx="823200" cy="17568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1" name="Google Shape;251;p21"/>
          <p:cNvSpPr/>
          <p:nvPr/>
        </p:nvSpPr>
        <p:spPr>
          <a:xfrm>
            <a:off x="2849250" y="1755500"/>
            <a:ext cx="649648" cy="26232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dk1"/>
                </a:solidFill>
                <a:latin typeface="Arial"/>
              </a:rPr>
              <a:t>저장</a:t>
            </a:r>
          </a:p>
        </p:txBody>
      </p:sp>
      <p:sp>
        <p:nvSpPr>
          <p:cNvPr id="252" name="Google Shape;252;p21"/>
          <p:cNvSpPr/>
          <p:nvPr/>
        </p:nvSpPr>
        <p:spPr>
          <a:xfrm>
            <a:off x="4339225" y="3336750"/>
            <a:ext cx="1120474" cy="2623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dk1"/>
                </a:solidFill>
                <a:latin typeface="Arial"/>
              </a:rPr>
              <a:t>불러오기</a:t>
            </a:r>
          </a:p>
        </p:txBody>
      </p:sp>
      <p:sp>
        <p:nvSpPr>
          <p:cNvPr id="253" name="Google Shape;253;p21"/>
          <p:cNvSpPr/>
          <p:nvPr/>
        </p:nvSpPr>
        <p:spPr>
          <a:xfrm>
            <a:off x="5628500" y="83200"/>
            <a:ext cx="2472600" cy="1197300"/>
          </a:xfrm>
          <a:prstGeom prst="wedgeRectCallout">
            <a:avLst>
              <a:gd fmla="val -48884" name="adj1"/>
              <a:gd fmla="val 69976" name="adj2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2"/>
                </a:solidFill>
              </a:rPr>
              <a:t>게임 데이터를 </a:t>
            </a:r>
            <a:r>
              <a:rPr b="1" lang="ko" sz="1500">
                <a:solidFill>
                  <a:schemeClr val="dk2"/>
                </a:solidFill>
              </a:rPr>
              <a:t>Serializable(직렬화)</a:t>
            </a:r>
            <a:r>
              <a:rPr lang="ko" sz="1500">
                <a:solidFill>
                  <a:schemeClr val="dk2"/>
                </a:solidFill>
              </a:rPr>
              <a:t>하여 </a:t>
            </a:r>
            <a:r>
              <a:rPr b="1" lang="ko" sz="1500">
                <a:solidFill>
                  <a:schemeClr val="dk2"/>
                </a:solidFill>
              </a:rPr>
              <a:t>Json형식</a:t>
            </a:r>
            <a:r>
              <a:rPr lang="ko" sz="1500">
                <a:solidFill>
                  <a:schemeClr val="dk2"/>
                </a:solidFill>
              </a:rPr>
              <a:t>으로 저장파일에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2"/>
                </a:solidFill>
              </a:rPr>
              <a:t>저장하고 불러온다.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4968700" y="2386150"/>
            <a:ext cx="795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2"/>
                </a:solidFill>
              </a:rPr>
              <a:t>직렬화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"/>
          <p:cNvSpPr/>
          <p:nvPr/>
        </p:nvSpPr>
        <p:spPr>
          <a:xfrm>
            <a:off x="122975" y="2704100"/>
            <a:ext cx="4449000" cy="131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0" y="0"/>
            <a:ext cx="22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ko" sz="1800">
                <a:solidFill>
                  <a:srgbClr val="595959"/>
                </a:solidFill>
              </a:rPr>
              <a:t>5</a:t>
            </a:r>
            <a:r>
              <a:rPr b="1" lang="ko" sz="1800">
                <a:solidFill>
                  <a:srgbClr val="595959"/>
                </a:solidFill>
              </a:rPr>
              <a:t>. </a:t>
            </a:r>
            <a:r>
              <a:rPr b="1" lang="ko" sz="1800">
                <a:solidFill>
                  <a:srgbClr val="595959"/>
                </a:solidFill>
              </a:rPr>
              <a:t>셰이더(RimLight)</a:t>
            </a:r>
            <a:endParaRPr b="1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0" y="400200"/>
            <a:ext cx="2295600" cy="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0" y="5063400"/>
            <a:ext cx="9144000" cy="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2225" y="2131825"/>
            <a:ext cx="2295600" cy="205878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2"/>
          <p:cNvSpPr txBox="1"/>
          <p:nvPr/>
        </p:nvSpPr>
        <p:spPr>
          <a:xfrm>
            <a:off x="6349575" y="4215325"/>
            <a:ext cx="19209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RimLight 효과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5" name="Google Shape;265;p22"/>
          <p:cNvSpPr/>
          <p:nvPr/>
        </p:nvSpPr>
        <p:spPr>
          <a:xfrm rot="-5400000">
            <a:off x="863400" y="3063025"/>
            <a:ext cx="535200" cy="5118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2"/>
          <p:cNvSpPr/>
          <p:nvPr/>
        </p:nvSpPr>
        <p:spPr>
          <a:xfrm>
            <a:off x="1430653" y="3225475"/>
            <a:ext cx="778800" cy="18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520425" y="3142225"/>
            <a:ext cx="647400" cy="3534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2"/>
          <p:cNvSpPr/>
          <p:nvPr/>
        </p:nvSpPr>
        <p:spPr>
          <a:xfrm>
            <a:off x="3248950" y="3051325"/>
            <a:ext cx="511800" cy="535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2"/>
          <p:cNvSpPr/>
          <p:nvPr/>
        </p:nvSpPr>
        <p:spPr>
          <a:xfrm rot="10800000">
            <a:off x="2864975" y="3225475"/>
            <a:ext cx="339300" cy="18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2"/>
          <p:cNvSpPr/>
          <p:nvPr/>
        </p:nvSpPr>
        <p:spPr>
          <a:xfrm rot="-5400000">
            <a:off x="3379150" y="2790275"/>
            <a:ext cx="251400" cy="18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2"/>
          <p:cNvSpPr/>
          <p:nvPr/>
        </p:nvSpPr>
        <p:spPr>
          <a:xfrm rot="5400000">
            <a:off x="3340450" y="3699375"/>
            <a:ext cx="328800" cy="18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3859800" y="3225475"/>
            <a:ext cx="339300" cy="18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2156050" y="3051625"/>
            <a:ext cx="11352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NormalVec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1448800" y="3412375"/>
            <a:ext cx="11352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ViewVec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275" name="Google Shape;27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632700"/>
            <a:ext cx="4663525" cy="1837146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2"/>
          <p:cNvSpPr/>
          <p:nvPr/>
        </p:nvSpPr>
        <p:spPr>
          <a:xfrm>
            <a:off x="152400" y="4073800"/>
            <a:ext cx="5597100" cy="747000"/>
          </a:xfrm>
          <a:prstGeom prst="wedgeRectCallout">
            <a:avLst>
              <a:gd fmla="val -3448" name="adj1"/>
              <a:gd fmla="val -78371" name="adj2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2"/>
                </a:solidFill>
              </a:rPr>
              <a:t>월드공간의 두 벡터로 내적연산하면 수직이 되는 값이 0, 평행하면 1또는 -1이므로 이를 절대값으로 반대쪽도 양수로 바꾼 후 oneMinus를 하면 수직에 대해서 1값을 갖는다. 이를 색상값과 곱연산하여 색상적용</a:t>
            </a:r>
            <a:endParaRPr sz="1300"/>
          </a:p>
        </p:txBody>
      </p:sp>
      <p:sp>
        <p:nvSpPr>
          <p:cNvPr id="277" name="Google Shape;277;p22"/>
          <p:cNvSpPr/>
          <p:nvPr/>
        </p:nvSpPr>
        <p:spPr>
          <a:xfrm>
            <a:off x="4716675" y="102000"/>
            <a:ext cx="3421500" cy="605400"/>
          </a:xfrm>
          <a:prstGeom prst="wedgeRectCallout">
            <a:avLst>
              <a:gd fmla="val -59743" name="adj1"/>
              <a:gd fmla="val 42909" name="adj2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RimLight= 1-(Abs(dot(viewV, NormalV)))</a:t>
            </a:r>
            <a:endParaRPr/>
          </a:p>
        </p:txBody>
      </p:sp>
      <p:sp>
        <p:nvSpPr>
          <p:cNvPr id="278" name="Google Shape;278;p22"/>
          <p:cNvSpPr/>
          <p:nvPr/>
        </p:nvSpPr>
        <p:spPr>
          <a:xfrm>
            <a:off x="4965500" y="897525"/>
            <a:ext cx="4000800" cy="870900"/>
          </a:xfrm>
          <a:prstGeom prst="round2DiagRect">
            <a:avLst>
              <a:gd fmla="val 20306" name="adj1"/>
              <a:gd fmla="val 16121" name="adj2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탐지하여 플레이어를 쫓아오고 공격하는 적은 </a:t>
            </a:r>
            <a:r>
              <a:rPr lang="ko" sz="1200">
                <a:solidFill>
                  <a:srgbClr val="FF0000"/>
                </a:solidFill>
              </a:rPr>
              <a:t>빨간색</a:t>
            </a:r>
            <a:endParaRPr sz="1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플레이어의 타겟으로 지정된 적은 </a:t>
            </a:r>
            <a:r>
              <a:rPr lang="ko" sz="1200">
                <a:solidFill>
                  <a:srgbClr val="0000FF"/>
                </a:solidFill>
              </a:rPr>
              <a:t>파란색</a:t>
            </a:r>
            <a:endParaRPr sz="12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색을 다르게 한 이유는 타겟을 구별하기 위함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3"/>
          <p:cNvSpPr/>
          <p:nvPr/>
        </p:nvSpPr>
        <p:spPr>
          <a:xfrm>
            <a:off x="81600" y="2187338"/>
            <a:ext cx="8980800" cy="27669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0" y="0"/>
            <a:ext cx="22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ko" sz="1800">
                <a:solidFill>
                  <a:srgbClr val="595959"/>
                </a:solidFill>
              </a:rPr>
              <a:t>5. </a:t>
            </a:r>
            <a:r>
              <a:rPr b="1" lang="ko" sz="1800">
                <a:solidFill>
                  <a:srgbClr val="595959"/>
                </a:solidFill>
              </a:rPr>
              <a:t>셰이더(Dissolve)</a:t>
            </a:r>
            <a:endParaRPr b="1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0" y="400200"/>
            <a:ext cx="2295600" cy="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0" y="5063400"/>
            <a:ext cx="9144000" cy="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5100" y="3287763"/>
            <a:ext cx="2002925" cy="142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1976" y="2932791"/>
            <a:ext cx="2412700" cy="1985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3600" y="2932800"/>
            <a:ext cx="4813924" cy="153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3"/>
          <p:cNvSpPr/>
          <p:nvPr/>
        </p:nvSpPr>
        <p:spPr>
          <a:xfrm>
            <a:off x="79175" y="545175"/>
            <a:ext cx="6204900" cy="15330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1" name="Google Shape;291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6372" y="818349"/>
            <a:ext cx="1020046" cy="9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3"/>
          <p:cNvSpPr txBox="1"/>
          <p:nvPr/>
        </p:nvSpPr>
        <p:spPr>
          <a:xfrm>
            <a:off x="2416636" y="1025176"/>
            <a:ext cx="38676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2"/>
                </a:solidFill>
              </a:rPr>
              <a:t>흑백의 Noise텍스처를 UV좌표값으로 샘플링하여 RGB의 r값과 진행도(Amount)파라미터와 Step연산 후 알파값으로 설정.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2"/>
                </a:solidFill>
              </a:rPr>
              <a:t>=&gt; [0,1]로 검은색~흰색순으로 투명화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293" name="Google Shape;293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40152" y="769851"/>
            <a:ext cx="772759" cy="1092636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3"/>
          <p:cNvSpPr/>
          <p:nvPr/>
        </p:nvSpPr>
        <p:spPr>
          <a:xfrm>
            <a:off x="5271250" y="2157450"/>
            <a:ext cx="3752700" cy="551100"/>
          </a:xfrm>
          <a:prstGeom prst="wedgeRectCallout">
            <a:avLst>
              <a:gd fmla="val -59506" name="adj1"/>
              <a:gd fmla="val 93590" name="adj2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chemeClr val="dk2"/>
                </a:solidFill>
              </a:rPr>
              <a:t>Dissolve되는 경계 = 1 - Step(RGB.r * NoiseWidth)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해당 경계에 색상을 곱하여 다음과 같은 결과</a:t>
            </a:r>
            <a:endParaRPr/>
          </a:p>
        </p:txBody>
      </p:sp>
      <p:sp>
        <p:nvSpPr>
          <p:cNvPr id="295" name="Google Shape;295;p23"/>
          <p:cNvSpPr/>
          <p:nvPr/>
        </p:nvSpPr>
        <p:spPr>
          <a:xfrm>
            <a:off x="6178275" y="480300"/>
            <a:ext cx="2918100" cy="551100"/>
          </a:xfrm>
          <a:prstGeom prst="wedgeRectCallout">
            <a:avLst>
              <a:gd fmla="val -59743" name="adj1"/>
              <a:gd fmla="val 42909" name="adj2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2"/>
                </a:solidFill>
              </a:rPr>
              <a:t>Alpha = Step(NoiseAmount, RGB.r)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3109025" y="584723"/>
            <a:ext cx="1914356" cy="3900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dk1"/>
                </a:solidFill>
                <a:latin typeface="Arial"/>
              </a:rPr>
              <a:t>Alpha값 설정</a:t>
            </a:r>
          </a:p>
        </p:txBody>
      </p:sp>
      <p:sp>
        <p:nvSpPr>
          <p:cNvPr id="297" name="Google Shape;297;p23"/>
          <p:cNvSpPr/>
          <p:nvPr/>
        </p:nvSpPr>
        <p:spPr>
          <a:xfrm>
            <a:off x="460150" y="2376725"/>
            <a:ext cx="2412691" cy="39004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dk1"/>
                </a:solidFill>
                <a:latin typeface="Arial"/>
              </a:rPr>
              <a:t>Emission 설정</a:t>
            </a:r>
          </a:p>
        </p:txBody>
      </p:sp>
      <p:sp>
        <p:nvSpPr>
          <p:cNvPr id="298" name="Google Shape;298;p23"/>
          <p:cNvSpPr txBox="1"/>
          <p:nvPr/>
        </p:nvSpPr>
        <p:spPr>
          <a:xfrm>
            <a:off x="216375" y="4528725"/>
            <a:ext cx="4355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chemeClr val="dk2"/>
                </a:solidFill>
              </a:rPr>
              <a:t>죽음시 사라져가는 연출하기 위한 Dissolve 머터리얼 개발</a:t>
            </a:r>
            <a:endParaRPr b="1"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4"/>
          <p:cNvSpPr/>
          <p:nvPr/>
        </p:nvSpPr>
        <p:spPr>
          <a:xfrm>
            <a:off x="151175" y="2368800"/>
            <a:ext cx="4962300" cy="1791900"/>
          </a:xfrm>
          <a:prstGeom prst="round2DiagRect">
            <a:avLst>
              <a:gd fmla="val 11644" name="adj1"/>
              <a:gd fmla="val 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4" name="Google Shape;304;p24"/>
          <p:cNvSpPr txBox="1"/>
          <p:nvPr/>
        </p:nvSpPr>
        <p:spPr>
          <a:xfrm>
            <a:off x="54425" y="0"/>
            <a:ext cx="22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ko" sz="1800">
                <a:solidFill>
                  <a:srgbClr val="595959"/>
                </a:solidFill>
              </a:rPr>
              <a:t>6. 렌더링 최적화</a:t>
            </a:r>
            <a:endParaRPr b="1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4"/>
          <p:cNvSpPr/>
          <p:nvPr/>
        </p:nvSpPr>
        <p:spPr>
          <a:xfrm>
            <a:off x="54425" y="400200"/>
            <a:ext cx="2295600" cy="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0" y="5063400"/>
            <a:ext cx="9144000" cy="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4"/>
          <p:cNvSpPr/>
          <p:nvPr/>
        </p:nvSpPr>
        <p:spPr>
          <a:xfrm>
            <a:off x="2914604" y="671850"/>
            <a:ext cx="1072800" cy="224400"/>
          </a:xfrm>
          <a:prstGeom prst="wedgeRectCallout">
            <a:avLst>
              <a:gd fmla="val -63791" name="adj1"/>
              <a:gd fmla="val 131789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Far Clip Plane</a:t>
            </a:r>
            <a:endParaRPr sz="1000"/>
          </a:p>
        </p:txBody>
      </p:sp>
      <p:sp>
        <p:nvSpPr>
          <p:cNvPr id="308" name="Google Shape;308;p24"/>
          <p:cNvSpPr/>
          <p:nvPr/>
        </p:nvSpPr>
        <p:spPr>
          <a:xfrm>
            <a:off x="1286896" y="814686"/>
            <a:ext cx="1146600" cy="190500"/>
          </a:xfrm>
          <a:prstGeom prst="wedgeRectCallout">
            <a:avLst>
              <a:gd fmla="val -67417" name="adj1"/>
              <a:gd fmla="val 203473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Near Clip Plane</a:t>
            </a:r>
            <a:endParaRPr sz="1000"/>
          </a:p>
        </p:txBody>
      </p:sp>
      <p:sp>
        <p:nvSpPr>
          <p:cNvPr id="309" name="Google Shape;309;p24"/>
          <p:cNvSpPr/>
          <p:nvPr/>
        </p:nvSpPr>
        <p:spPr>
          <a:xfrm>
            <a:off x="151175" y="671850"/>
            <a:ext cx="8898900" cy="1408200"/>
          </a:xfrm>
          <a:prstGeom prst="round2DiagRect">
            <a:avLst>
              <a:gd fmla="val 2411" name="adj1"/>
              <a:gd fmla="val 24183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0" name="Google Shape;310;p24"/>
          <p:cNvSpPr/>
          <p:nvPr/>
        </p:nvSpPr>
        <p:spPr>
          <a:xfrm rot="-5400000">
            <a:off x="1474169" y="658675"/>
            <a:ext cx="897900" cy="1686600"/>
          </a:xfrm>
          <a:prstGeom prst="trapezoid">
            <a:avLst>
              <a:gd fmla="val 31861" name="adj"/>
            </a:avLst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4"/>
          <p:cNvSpPr/>
          <p:nvPr/>
        </p:nvSpPr>
        <p:spPr>
          <a:xfrm rot="-5400000">
            <a:off x="504193" y="1293505"/>
            <a:ext cx="401100" cy="4173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4"/>
          <p:cNvSpPr/>
          <p:nvPr/>
        </p:nvSpPr>
        <p:spPr>
          <a:xfrm>
            <a:off x="206825" y="1369572"/>
            <a:ext cx="528000" cy="264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3" name="Google Shape;31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500" y="2448900"/>
            <a:ext cx="2508913" cy="1568762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4"/>
          <p:cNvSpPr txBox="1"/>
          <p:nvPr/>
        </p:nvSpPr>
        <p:spPr>
          <a:xfrm>
            <a:off x="3153850" y="1057200"/>
            <a:ext cx="5545800" cy="8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300">
                <a:solidFill>
                  <a:schemeClr val="dk1"/>
                </a:solidFill>
              </a:rPr>
              <a:t>카메라는 절사팔면 형태로 해당 범위안에 있는 오브젝트들을 렌더링하며,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카메라 Lens의 Far Clip Plane을 1000-&gt; 150으로 줄여서 최대 150거리까지의 오브젝트까지만 렌더링하도록 설정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5" name="Google Shape;315;p24"/>
          <p:cNvSpPr txBox="1"/>
          <p:nvPr/>
        </p:nvSpPr>
        <p:spPr>
          <a:xfrm>
            <a:off x="2990575" y="2878200"/>
            <a:ext cx="21228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빛 오브젝트들을 Bake하여 미리 연산시켜서 씬 내의 렌더링 연산을 감소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6" name="Google Shape;316;p24"/>
          <p:cNvSpPr/>
          <p:nvPr/>
        </p:nvSpPr>
        <p:spPr>
          <a:xfrm>
            <a:off x="5337525" y="2368800"/>
            <a:ext cx="3712500" cy="2399700"/>
          </a:xfrm>
          <a:prstGeom prst="round2DiagRect">
            <a:avLst>
              <a:gd fmla="val 13161" name="adj1"/>
              <a:gd fmla="val 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chemeClr val="dk1"/>
                </a:solidFill>
              </a:rPr>
              <a:t>Fantastic_PipelineAsset_DeferredRenderer </a:t>
            </a:r>
            <a:endParaRPr b="1" sz="1200">
              <a:solidFill>
                <a:schemeClr val="dk1"/>
              </a:solidFill>
            </a:endParaRPr>
          </a:p>
          <a:p>
            <a:pPr indent="-148200" lvl="0" marL="3023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Shadow Resolution(그림자의 선명도) 4096-&gt;2048</a:t>
            </a:r>
            <a:endParaRPr sz="1200">
              <a:solidFill>
                <a:schemeClr val="dk1"/>
              </a:solidFill>
            </a:endParaRPr>
          </a:p>
          <a:p>
            <a:pPr indent="-148200" lvl="0" marL="3023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Max Distance(그림자가 렌더링되는 최대 거리)를 300 -&gt; 50</a:t>
            </a:r>
            <a:endParaRPr sz="1200">
              <a:solidFill>
                <a:schemeClr val="dk1"/>
              </a:solidFill>
            </a:endParaRPr>
          </a:p>
          <a:p>
            <a:pPr indent="-148200" lvl="0" marL="3023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200">
                <a:solidFill>
                  <a:schemeClr val="dk1"/>
                </a:solidFill>
              </a:rPr>
              <a:t>Cascade Count(Shadow Max Distance의 범위를 몇개로 나누어 가까운 곳은 고해상도, 멀어질수록 저해상도) 4 -&gt; 2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17" name="Google Shape;317;p24"/>
          <p:cNvSpPr/>
          <p:nvPr/>
        </p:nvSpPr>
        <p:spPr>
          <a:xfrm>
            <a:off x="3308600" y="671848"/>
            <a:ext cx="4806529" cy="34055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dk1"/>
                </a:solidFill>
                <a:latin typeface="Arial"/>
              </a:rPr>
              <a:t>카메라 시야 내 렌더링 거리 감소</a:t>
            </a:r>
          </a:p>
        </p:txBody>
      </p:sp>
      <p:sp>
        <p:nvSpPr>
          <p:cNvPr id="318" name="Google Shape;318;p24"/>
          <p:cNvSpPr/>
          <p:nvPr/>
        </p:nvSpPr>
        <p:spPr>
          <a:xfrm>
            <a:off x="3150625" y="2401298"/>
            <a:ext cx="1802702" cy="340892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dk1"/>
                </a:solidFill>
                <a:latin typeface="Arial"/>
              </a:rPr>
              <a:t>빛 연산 감소</a:t>
            </a:r>
          </a:p>
        </p:txBody>
      </p:sp>
      <p:sp>
        <p:nvSpPr>
          <p:cNvPr id="319" name="Google Shape;319;p24"/>
          <p:cNvSpPr/>
          <p:nvPr/>
        </p:nvSpPr>
        <p:spPr>
          <a:xfrm>
            <a:off x="6039775" y="2401473"/>
            <a:ext cx="2464843" cy="34055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dk1"/>
                </a:solidFill>
                <a:latin typeface="Arial"/>
              </a:rPr>
              <a:t>그림자 연산 설정</a:t>
            </a:r>
          </a:p>
        </p:txBody>
      </p:sp>
      <p:sp>
        <p:nvSpPr>
          <p:cNvPr id="320" name="Google Shape;320;p24"/>
          <p:cNvSpPr/>
          <p:nvPr/>
        </p:nvSpPr>
        <p:spPr>
          <a:xfrm>
            <a:off x="358800" y="4265400"/>
            <a:ext cx="4213200" cy="693300"/>
          </a:xfrm>
          <a:prstGeom prst="homePlate">
            <a:avLst>
              <a:gd fmla="val 50000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1"/>
                </a:solidFill>
              </a:rPr>
              <a:t>기존 FPS성능이 </a:t>
            </a:r>
            <a:r>
              <a:rPr b="1" lang="ko" sz="1500">
                <a:solidFill>
                  <a:schemeClr val="dk1"/>
                </a:solidFill>
              </a:rPr>
              <a:t>39~45 에서 45~49로 </a:t>
            </a:r>
            <a:r>
              <a:rPr b="1" lang="ko" sz="1500">
                <a:solidFill>
                  <a:srgbClr val="FF0000"/>
                </a:solidFill>
              </a:rPr>
              <a:t>증가</a:t>
            </a:r>
            <a:endParaRPr b="1" sz="15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SetPassCall도</a:t>
            </a:r>
            <a:r>
              <a:rPr b="1" lang="ko" sz="1500">
                <a:solidFill>
                  <a:schemeClr val="dk1"/>
                </a:solidFill>
              </a:rPr>
              <a:t> 280대에서 260대로 </a:t>
            </a:r>
            <a:r>
              <a:rPr b="1" lang="ko" sz="1500">
                <a:solidFill>
                  <a:schemeClr val="accent1"/>
                </a:solidFill>
              </a:rPr>
              <a:t>감소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5"/>
          <p:cNvSpPr txBox="1"/>
          <p:nvPr/>
        </p:nvSpPr>
        <p:spPr>
          <a:xfrm>
            <a:off x="0" y="0"/>
            <a:ext cx="311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ko" sz="1800">
                <a:solidFill>
                  <a:srgbClr val="595959"/>
                </a:solidFill>
              </a:rPr>
              <a:t>영상 링크</a:t>
            </a:r>
            <a:endParaRPr b="1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5"/>
          <p:cNvSpPr/>
          <p:nvPr/>
        </p:nvSpPr>
        <p:spPr>
          <a:xfrm>
            <a:off x="0" y="400200"/>
            <a:ext cx="2977200" cy="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5"/>
          <p:cNvSpPr/>
          <p:nvPr/>
        </p:nvSpPr>
        <p:spPr>
          <a:xfrm>
            <a:off x="0" y="5063400"/>
            <a:ext cx="9144000" cy="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5"/>
          <p:cNvSpPr txBox="1"/>
          <p:nvPr/>
        </p:nvSpPr>
        <p:spPr>
          <a:xfrm>
            <a:off x="1495950" y="2131350"/>
            <a:ext cx="6152100" cy="12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영상 링크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https://www.youtube.com/watch?v=bncWZRMoomo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"/>
          <p:cNvSpPr txBox="1"/>
          <p:nvPr/>
        </p:nvSpPr>
        <p:spPr>
          <a:xfrm>
            <a:off x="0" y="0"/>
            <a:ext cx="311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ko" sz="1800">
                <a:solidFill>
                  <a:srgbClr val="595959"/>
                </a:solidFill>
              </a:rPr>
              <a:t>7. 주차별 학습 및 구현요소</a:t>
            </a:r>
            <a:endParaRPr b="1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0" y="400200"/>
            <a:ext cx="2977200" cy="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6"/>
          <p:cNvSpPr/>
          <p:nvPr/>
        </p:nvSpPr>
        <p:spPr>
          <a:xfrm>
            <a:off x="0" y="5063400"/>
            <a:ext cx="9144000" cy="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6" name="Google Shape;336;p26"/>
          <p:cNvGraphicFramePr/>
          <p:nvPr/>
        </p:nvGraphicFramePr>
        <p:xfrm>
          <a:off x="952500" y="55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{3F7979F1-1387-410D-89D0-41F331D41E8D}</a:tableStyleId>
              </a:tblPr>
              <a:tblGrid>
                <a:gridCol w="1451425"/>
                <a:gridCol w="5787575"/>
              </a:tblGrid>
              <a:tr h="319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1주차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AI적 구현을 위한 BH Tree(행동트리) 이론 학습 및 구현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2주차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FSM(유한상태머신)구조를 활용한 플레이어 구현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3주차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내부 데미지 개산 로직을 개별로 다루기 위해 다형성 구조로 적과 플레이어를 하나의 추상클래스에서 파생구현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5주차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공격 로직 구현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6주차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AI Navagation 으로 적의 탐지이동 및 플레이어의 체력, 스테미나 GUI구현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7주차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각 스테이지의 맵 에셋적용 및 적 몬스터 스폰 구현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8주차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레벨 시스템 구현, 직렬화를 통해 Json형태로 저장 및 불러오기 기능 구현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9주차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solidFill>
                            <a:schemeClr val="dk1"/>
                          </a:solidFill>
                        </a:rPr>
                        <a:t>컨디션 악화로 인한 휴식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10주차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Light 오브젝트의 연산 관련 내용학습 및 맵 오브젝트의 빛 연산을 최소화하기 위해 Bake진행 및 렌더링 최적화(카메라 렌더링 사거리, 그림자 관련 설정 조작), Post Processing으로 맵 분위기 꾸미기, 적 머터리얼 설정(Matalic설정, NormalMap 강도, Smoothness설정)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11주차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벡터 이론 학습 후 RimLight 원리 이해 및 적이 탐지, 타겟팅 되었을때 몸체에 역광효과 적용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12주차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텍스처의 샘플링 이론 학습 후 Dissolve 학습 및 원리 이해, 적과 플레이어가 죽을 시 Dissolve효과 연출 구현 및 적용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13주차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부족했던 벡터이론과 삼각비 관련 내용 학습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7" name="Google Shape;337;p26"/>
          <p:cNvSpPr txBox="1"/>
          <p:nvPr/>
        </p:nvSpPr>
        <p:spPr>
          <a:xfrm>
            <a:off x="6065750" y="169200"/>
            <a:ext cx="22044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2"/>
                </a:solidFill>
              </a:rPr>
              <a:t>4주차는 휴강으로 구현내용 보완</a:t>
            </a:r>
            <a:endParaRPr sz="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7"/>
          <p:cNvSpPr txBox="1"/>
          <p:nvPr/>
        </p:nvSpPr>
        <p:spPr>
          <a:xfrm>
            <a:off x="0" y="0"/>
            <a:ext cx="22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ko" sz="1800">
                <a:solidFill>
                  <a:srgbClr val="595959"/>
                </a:solidFill>
              </a:rPr>
              <a:t>기술 정리</a:t>
            </a:r>
            <a:endParaRPr b="1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7"/>
          <p:cNvSpPr/>
          <p:nvPr/>
        </p:nvSpPr>
        <p:spPr>
          <a:xfrm>
            <a:off x="0" y="400200"/>
            <a:ext cx="2295600" cy="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7"/>
          <p:cNvSpPr/>
          <p:nvPr/>
        </p:nvSpPr>
        <p:spPr>
          <a:xfrm>
            <a:off x="0" y="5063400"/>
            <a:ext cx="9144000" cy="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5" name="Google Shape;345;p27"/>
          <p:cNvGraphicFramePr/>
          <p:nvPr/>
        </p:nvGraphicFramePr>
        <p:xfrm>
          <a:off x="908625" y="112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{3F7979F1-1387-410D-89D0-41F331D41E8D}</a:tableStyleId>
              </a:tblPr>
              <a:tblGrid>
                <a:gridCol w="1583200"/>
                <a:gridCol w="5655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프로그래밍 일반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41850" lvl="0" marL="302399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ko" sz="1100"/>
                        <a:t>캐릭터(적,플레이어) 다형성 클래스, 적 캐릭터 추상화 클래스 적용</a:t>
                      </a:r>
                      <a:endParaRPr sz="11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게임 수학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41850" lvl="0" marL="302399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ko" sz="1100"/>
                        <a:t>적이 공격시 플레이어와의 정면 검사로 Dot연산 활용</a:t>
                      </a:r>
                      <a:endParaRPr sz="1100"/>
                    </a:p>
                    <a:p>
                      <a:pPr indent="-141850" lvl="0" marL="302399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ko" sz="1100"/>
                        <a:t>쉐이더 RimLight 적용 시에도 Dot연산활용</a:t>
                      </a:r>
                      <a:endParaRPr sz="1100"/>
                    </a:p>
                    <a:p>
                      <a:pPr indent="-141850" lvl="0" marL="302399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ko" sz="1100">
                          <a:solidFill>
                            <a:schemeClr val="dk1"/>
                          </a:solidFill>
                        </a:rPr>
                        <a:t>캐릭터 회전 시 Quaternion Slerp회전 적용으로 짐벌락 방지</a:t>
                      </a:r>
                      <a:endParaRPr sz="11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게임 알고리즘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41850" lvl="0" marL="302399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ko" sz="1100"/>
                        <a:t>FSM(유한 상태 머신)구조로 플레이어 로직 구현</a:t>
                      </a:r>
                      <a:endParaRPr sz="1100"/>
                    </a:p>
                    <a:p>
                      <a:pPr indent="-141850" lvl="0" marL="302399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ko" sz="1100"/>
                        <a:t>bh트리(행동 트리)구조로 적 몬스터 구현</a:t>
                      </a:r>
                      <a:endParaRPr sz="11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유니티 에디터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41850" lvl="0" marL="302399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ko" sz="1100"/>
                        <a:t>AI Navigation으로 적의 이동경로 설정</a:t>
                      </a:r>
                      <a:endParaRPr sz="1100"/>
                    </a:p>
                    <a:p>
                      <a:pPr indent="-141850" lvl="0" marL="302399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ko" sz="1100"/>
                        <a:t>Cinemachine Camera로 플레이어 상태별 카메라 시점 변경</a:t>
                      </a:r>
                      <a:endParaRPr sz="1100"/>
                    </a:p>
                    <a:p>
                      <a:pPr indent="-141850" lvl="0" marL="302399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ko" sz="1100"/>
                        <a:t>Animation과 Collider를 활용한 전투로직 구현</a:t>
                      </a:r>
                      <a:endParaRPr sz="1100"/>
                    </a:p>
                    <a:p>
                      <a:pPr indent="-141850" lvl="0" marL="302399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ko" sz="1100"/>
                        <a:t>Json Utility를 활용한 저장과 이어하기 로직 구현</a:t>
                      </a:r>
                      <a:endParaRPr sz="1100"/>
                    </a:p>
                    <a:p>
                      <a:pPr indent="-141850" lvl="0" marL="302399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ko" sz="1100"/>
                        <a:t>Lighting 및 Post Processing으로 빛 연산 감소와 맵 분위기 설정</a:t>
                      </a:r>
                      <a:endParaRPr sz="11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